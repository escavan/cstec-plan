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2"/>
    <p:sldId id="257" r:id="rId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1" d="100"/>
          <a:sy n="101" d="100"/>
        </p:scale>
        <p:origin x="108"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554663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교육체계 골격 개요 슬라이드입니다. 왼쪽은 기존 일반 사이버보안 교육에 AI 과목을 접목해 최신성을 유지하고 4개 분야(정책·도입·예방·대응)로 재조정한 축입니다. 오른쪽은 새로 신설하는 AI보안 교육으로, AI 3분야를 초·중·고급 레벨로 구성합니다. 두 분야를 병행 운영하는 것이 핵심 메시지입니다.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기존 '취약점 진단 실무' 과정에 AI를 6차시로 단계적으로 접목한 사례입니다. 핵심은 STAGE 2의 정보량 대조 실험으로, 04차시(정보 없이 URL만 던지기)와 05차시(가공된 단서를 풍부하게 제공)를 비교해 AI에게 주는 정보량에 따라 취약점 진단 성과가 어떻게 달라지는지 직접 체험하게 합니다. 단순 도구 사용을 넘어 AI의 자율 탐색 한계와 활용 전략을 학습하는 것이 목표입니다.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58368" y="512064"/>
            <a:ext cx="10893247" cy="731520"/>
          </a:xfrm>
          <a:prstGeom prst="rect">
            <a:avLst/>
          </a:prstGeom>
          <a:noFill/>
        </p:spPr>
        <p:txBody>
          <a:bodyPr wrap="square" lIns="45720" tIns="18288" rIns="45720" bIns="18288" anchor="t">
            <a:spAutoFit/>
          </a:bodyPr>
          <a:lstStyle/>
          <a:p>
            <a:pPr algn="l"/>
            <a:r>
              <a:rPr sz="2700" b="1">
                <a:solidFill>
                  <a:srgbClr val="1B2330"/>
                </a:solidFill>
                <a:latin typeface="Noto Sans KR"/>
              </a:rPr>
              <a:t>AI 사이버안보 교육체계 골격</a:t>
            </a:r>
          </a:p>
        </p:txBody>
      </p:sp>
      <p:sp>
        <p:nvSpPr>
          <p:cNvPr id="3" name="TextBox 2"/>
          <p:cNvSpPr txBox="1"/>
          <p:nvPr/>
        </p:nvSpPr>
        <p:spPr>
          <a:xfrm>
            <a:off x="676656" y="1188720"/>
            <a:ext cx="10820095" cy="365760"/>
          </a:xfrm>
          <a:prstGeom prst="rect">
            <a:avLst/>
          </a:prstGeom>
          <a:noFill/>
        </p:spPr>
        <p:txBody>
          <a:bodyPr wrap="square" lIns="45720" tIns="18288" rIns="45720" bIns="18288" anchor="t">
            <a:spAutoFit/>
          </a:bodyPr>
          <a:lstStyle/>
          <a:p>
            <a:pPr algn="l"/>
            <a:r>
              <a:rPr sz="1300" b="0">
                <a:solidFill>
                  <a:srgbClr val="5B6470"/>
                </a:solidFill>
                <a:latin typeface="Noto Sans KR"/>
              </a:rPr>
              <a:t>2026 AI 과정 현황 이전 — 2개 분야 전체 구조</a:t>
            </a:r>
          </a:p>
        </p:txBody>
      </p:sp>
      <p:sp>
        <p:nvSpPr>
          <p:cNvPr id="4" name="Rounded Rectangle 3"/>
          <p:cNvSpPr/>
          <p:nvPr/>
        </p:nvSpPr>
        <p:spPr>
          <a:xfrm>
            <a:off x="4312767" y="1517904"/>
            <a:ext cx="3566160" cy="548640"/>
          </a:xfrm>
          <a:prstGeom prst="roundRect">
            <a:avLst>
              <a:gd name="adj" fmla="val 15000"/>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4312767" y="1517904"/>
            <a:ext cx="3566160" cy="548640"/>
          </a:xfrm>
          <a:prstGeom prst="rect">
            <a:avLst/>
          </a:prstGeom>
          <a:noFill/>
        </p:spPr>
        <p:txBody>
          <a:bodyPr wrap="square" lIns="45720" tIns="18288" rIns="45720" bIns="18288" anchor="ctr">
            <a:spAutoFit/>
          </a:bodyPr>
          <a:lstStyle/>
          <a:p>
            <a:pPr algn="ctr"/>
            <a:r>
              <a:rPr sz="1600" b="1">
                <a:solidFill>
                  <a:srgbClr val="FFFFFF"/>
                </a:solidFill>
                <a:latin typeface="Noto Sans KR"/>
              </a:rPr>
              <a:t>교육 체계 (Education Framework)</a:t>
            </a:r>
          </a:p>
        </p:txBody>
      </p:sp>
      <p:sp>
        <p:nvSpPr>
          <p:cNvPr id="6" name="Rectangle 5"/>
          <p:cNvSpPr/>
          <p:nvPr/>
        </p:nvSpPr>
        <p:spPr>
          <a:xfrm>
            <a:off x="6084874" y="2066543"/>
            <a:ext cx="21945" cy="292607"/>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3230803" y="2359151"/>
            <a:ext cx="5730087" cy="21945"/>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ectangle 7"/>
          <p:cNvSpPr/>
          <p:nvPr/>
        </p:nvSpPr>
        <p:spPr>
          <a:xfrm>
            <a:off x="3219831" y="2359151"/>
            <a:ext cx="21945" cy="3657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949918" y="2359151"/>
            <a:ext cx="21945" cy="3657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ounded Rectangle 9"/>
          <p:cNvSpPr/>
          <p:nvPr/>
        </p:nvSpPr>
        <p:spPr>
          <a:xfrm>
            <a:off x="640080" y="2724912"/>
            <a:ext cx="5181447" cy="512064"/>
          </a:xfrm>
          <a:prstGeom prst="roundRect">
            <a:avLst>
              <a:gd name="adj" fmla="val 15000"/>
            </a:avLst>
          </a:prstGeom>
          <a:solidFill>
            <a:srgbClr val="1C75C9"/>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40080" y="2724912"/>
            <a:ext cx="5181447" cy="512064"/>
          </a:xfrm>
          <a:prstGeom prst="rect">
            <a:avLst/>
          </a:prstGeom>
          <a:noFill/>
        </p:spPr>
        <p:txBody>
          <a:bodyPr wrap="square" lIns="45720" tIns="18288" rIns="45720" bIns="18288" anchor="ctr">
            <a:spAutoFit/>
          </a:bodyPr>
          <a:lstStyle/>
          <a:p>
            <a:pPr algn="ctr"/>
            <a:r>
              <a:rPr sz="1500" b="1">
                <a:solidFill>
                  <a:srgbClr val="FFFFFF"/>
                </a:solidFill>
                <a:latin typeface="Noto Sans KR"/>
              </a:rPr>
              <a:t>[분야 1]  일반 사이버보안 교육</a:t>
            </a:r>
          </a:p>
        </p:txBody>
      </p:sp>
      <p:sp>
        <p:nvSpPr>
          <p:cNvPr id="12" name="Rounded Rectangle 11"/>
          <p:cNvSpPr/>
          <p:nvPr/>
        </p:nvSpPr>
        <p:spPr>
          <a:xfrm>
            <a:off x="640080" y="3291840"/>
            <a:ext cx="5181447" cy="2267712"/>
          </a:xfrm>
          <a:prstGeom prst="roundRect">
            <a:avLst>
              <a:gd name="adj" fmla="val 4032"/>
            </a:avLst>
          </a:prstGeom>
          <a:solidFill>
            <a:srgbClr val="F4F8FC"/>
          </a:solidFill>
          <a:ln w="12700">
            <a:solidFill>
              <a:srgbClr val="E3ECF6"/>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14400" y="3429000"/>
            <a:ext cx="4632807" cy="1993392"/>
          </a:xfrm>
          <a:prstGeom prst="rect">
            <a:avLst/>
          </a:prstGeom>
          <a:noFill/>
        </p:spPr>
        <p:txBody>
          <a:bodyPr wrap="square" lIns="45720" tIns="18288" rIns="45720" bIns="18288" anchor="ctr">
            <a:spAutoFit/>
          </a:bodyPr>
          <a:lstStyle/>
          <a:p>
            <a:pPr algn="l">
              <a:lnSpc>
                <a:spcPct val="150000"/>
              </a:lnSpc>
            </a:pPr>
            <a:r>
              <a:rPr sz="1300" b="0">
                <a:solidFill>
                  <a:srgbClr val="1E293B"/>
                </a:solidFill>
                <a:latin typeface="Noto Sans KR"/>
              </a:rPr>
              <a:t>·  대상 — 국가·공공기관 담당자 일반 사이버보안 교육 (기존)
·  최신화(2026) — 기존 과정에 AI 과목 접목
       정보보안업무 이해 · 취약점 진단 · 보안 관제 · 실태평가 등
·  재편 — 4개 분야 재조정: 정책 · 도입 · 예방 · 대응
·  확장 — 특별과정 (지부·군·검경·여성과학인·지역대학생)</a:t>
            </a:r>
          </a:p>
        </p:txBody>
      </p:sp>
      <p:sp>
        <p:nvSpPr>
          <p:cNvPr id="14" name="Rounded Rectangle 13"/>
          <p:cNvSpPr/>
          <p:nvPr/>
        </p:nvSpPr>
        <p:spPr>
          <a:xfrm>
            <a:off x="6370167" y="2724912"/>
            <a:ext cx="5181447" cy="512064"/>
          </a:xfrm>
          <a:prstGeom prst="roundRect">
            <a:avLst>
              <a:gd name="adj" fmla="val 15000"/>
            </a:avLst>
          </a:prstGeom>
          <a:solidFill>
            <a:srgbClr val="13AAED"/>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370167" y="2724912"/>
            <a:ext cx="5181447" cy="512064"/>
          </a:xfrm>
          <a:prstGeom prst="rect">
            <a:avLst/>
          </a:prstGeom>
          <a:noFill/>
        </p:spPr>
        <p:txBody>
          <a:bodyPr wrap="square" lIns="45720" tIns="18288" rIns="45720" bIns="18288" anchor="ctr">
            <a:spAutoFit/>
          </a:bodyPr>
          <a:lstStyle/>
          <a:p>
            <a:pPr algn="ctr"/>
            <a:r>
              <a:rPr sz="1500" b="1">
                <a:solidFill>
                  <a:srgbClr val="FFFFFF"/>
                </a:solidFill>
                <a:latin typeface="Noto Sans KR"/>
              </a:rPr>
              <a:t>[분야 2]  AI보안 교육</a:t>
            </a:r>
          </a:p>
        </p:txBody>
      </p:sp>
      <p:sp>
        <p:nvSpPr>
          <p:cNvPr id="16" name="Rounded Rectangle 15"/>
          <p:cNvSpPr/>
          <p:nvPr/>
        </p:nvSpPr>
        <p:spPr>
          <a:xfrm>
            <a:off x="6370167" y="3291840"/>
            <a:ext cx="5181447" cy="2267712"/>
          </a:xfrm>
          <a:prstGeom prst="roundRect">
            <a:avLst>
              <a:gd name="adj" fmla="val 4032"/>
            </a:avLst>
          </a:prstGeom>
          <a:solidFill>
            <a:srgbClr val="F4F8FC"/>
          </a:solidFill>
          <a:ln w="12700">
            <a:solidFill>
              <a:srgbClr val="E3ECF6"/>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644487" y="3429000"/>
            <a:ext cx="4632807" cy="1993392"/>
          </a:xfrm>
          <a:prstGeom prst="rect">
            <a:avLst/>
          </a:prstGeom>
          <a:noFill/>
        </p:spPr>
        <p:txBody>
          <a:bodyPr wrap="square" lIns="45720" tIns="18288" rIns="45720" bIns="18288" anchor="ctr">
            <a:spAutoFit/>
          </a:bodyPr>
          <a:lstStyle/>
          <a:p>
            <a:pPr algn="l">
              <a:lnSpc>
                <a:spcPct val="150000"/>
              </a:lnSpc>
            </a:pPr>
            <a:r>
              <a:rPr sz="1300" b="0">
                <a:solidFill>
                  <a:srgbClr val="1E293B"/>
                </a:solidFill>
                <a:latin typeface="Noto Sans KR"/>
              </a:rPr>
              <a:t>·  구성 — AI 3분야 × 레벨(초급 · 중급 · 고급)
       ①  AI 기초 활용 (AI Literacy)
       ②  AI 구축·활용 (AI for Security)
       ③  AI 보안 (Security for AI)
·  목표 — Agentic 공격(Agentic Attack) 대응 역량 확보</a:t>
            </a:r>
          </a:p>
        </p:txBody>
      </p:sp>
      <p:sp>
        <p:nvSpPr>
          <p:cNvPr id="18" name="Rounded Rectangle 17"/>
          <p:cNvSpPr/>
          <p:nvPr/>
        </p:nvSpPr>
        <p:spPr>
          <a:xfrm>
            <a:off x="640080" y="5870448"/>
            <a:ext cx="10911535" cy="512064"/>
          </a:xfrm>
          <a:prstGeom prst="roundRect">
            <a:avLst>
              <a:gd name="adj" fmla="val 15000"/>
            </a:avLst>
          </a:prstGeom>
          <a:solidFill>
            <a:srgbClr val="0E5AA8"/>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640080" y="5870448"/>
            <a:ext cx="109728" cy="512064"/>
          </a:xfrm>
          <a:prstGeom prst="rect">
            <a:avLst/>
          </a:prstGeom>
          <a:solidFill>
            <a:srgbClr val="1E7ED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50976" y="5870448"/>
            <a:ext cx="10454335" cy="512064"/>
          </a:xfrm>
          <a:prstGeom prst="rect">
            <a:avLst/>
          </a:prstGeom>
          <a:noFill/>
        </p:spPr>
        <p:txBody>
          <a:bodyPr wrap="square" lIns="45720" tIns="18288" rIns="45720" bIns="18288" anchor="ctr">
            <a:spAutoFit/>
          </a:bodyPr>
          <a:lstStyle/>
          <a:p>
            <a:pPr algn="ctr"/>
            <a:r>
              <a:rPr sz="1500" b="1">
                <a:solidFill>
                  <a:srgbClr val="FFFFFF"/>
                </a:solidFill>
                <a:latin typeface="Noto Sans KR"/>
              </a:rPr>
              <a:t>기존 보안 최신화  +  AI보안 신설  =  2개 분야 병행 체계</a:t>
            </a:r>
          </a:p>
        </p:txBody>
      </p:sp>
      <p:sp>
        <p:nvSpPr>
          <p:cNvPr id="21" name="TextBox 20"/>
          <p:cNvSpPr txBox="1"/>
          <p:nvPr/>
        </p:nvSpPr>
        <p:spPr>
          <a:xfrm>
            <a:off x="11734495" y="6492240"/>
            <a:ext cx="365760" cy="228600"/>
          </a:xfrm>
          <a:prstGeom prst="rect">
            <a:avLst/>
          </a:prstGeom>
          <a:noFill/>
        </p:spPr>
        <p:txBody>
          <a:bodyPr wrap="square" lIns="45720" tIns="18288" rIns="45720" bIns="18288" anchor="t">
            <a:spAutoFit/>
          </a:bodyPr>
          <a:lstStyle/>
          <a:p>
            <a:pPr algn="r"/>
            <a:r>
              <a:rPr sz="900" b="0">
                <a:solidFill>
                  <a:srgbClr val="94A3B8"/>
                </a:solidFill>
                <a:latin typeface="Noto Sans KR"/>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512064"/>
            <a:ext cx="10893247" cy="731520"/>
          </a:xfrm>
          <a:prstGeom prst="rect">
            <a:avLst/>
          </a:prstGeom>
          <a:noFill/>
        </p:spPr>
        <p:txBody>
          <a:bodyPr wrap="square" lIns="45720" tIns="18288" rIns="45720" bIns="18288" anchor="t">
            <a:spAutoFit/>
          </a:bodyPr>
          <a:lstStyle/>
          <a:p>
            <a:pPr algn="l"/>
            <a:r>
              <a:rPr sz="2700" b="1">
                <a:solidFill>
                  <a:srgbClr val="1B2330"/>
                </a:solidFill>
                <a:latin typeface="Noto Sans KR"/>
              </a:rPr>
              <a:t>취약점 진단 과정의 AI 접목 — 6차시 학습 여정</a:t>
            </a:r>
          </a:p>
        </p:txBody>
      </p:sp>
      <p:sp>
        <p:nvSpPr>
          <p:cNvPr id="3" name="TextBox 2"/>
          <p:cNvSpPr txBox="1"/>
          <p:nvPr/>
        </p:nvSpPr>
        <p:spPr>
          <a:xfrm>
            <a:off x="676656" y="1188720"/>
            <a:ext cx="10820095" cy="365760"/>
          </a:xfrm>
          <a:prstGeom prst="rect">
            <a:avLst/>
          </a:prstGeom>
          <a:noFill/>
        </p:spPr>
        <p:txBody>
          <a:bodyPr wrap="square" lIns="45720" tIns="18288" rIns="45720" bIns="18288" anchor="t">
            <a:spAutoFit/>
          </a:bodyPr>
          <a:lstStyle/>
          <a:p>
            <a:pPr algn="l"/>
            <a:r>
              <a:rPr sz="1300" b="0">
                <a:solidFill>
                  <a:srgbClr val="5B6470"/>
                </a:solidFill>
                <a:latin typeface="Noto Sans KR"/>
              </a:rPr>
              <a:t>기존 취약점 진단 실무 과정에 AI를 단계적으로 접목한 사례</a:t>
            </a:r>
          </a:p>
        </p:txBody>
      </p:sp>
      <p:sp>
        <p:nvSpPr>
          <p:cNvPr id="4" name="Rounded Rectangle 3"/>
          <p:cNvSpPr/>
          <p:nvPr/>
        </p:nvSpPr>
        <p:spPr>
          <a:xfrm>
            <a:off x="365760" y="1828800"/>
            <a:ext cx="1833829" cy="2194560"/>
          </a:xfrm>
          <a:prstGeom prst="roundRect">
            <a:avLst>
              <a:gd name="adj" fmla="val 3989"/>
            </a:avLst>
          </a:prstGeom>
          <a:solidFill>
            <a:srgbClr val="FFFFFF"/>
          </a:solidFill>
          <a:ln w="19050">
            <a:solidFill>
              <a:srgbClr val="1C75C9"/>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512064" y="2011680"/>
            <a:ext cx="402336" cy="402336"/>
          </a:xfrm>
          <a:prstGeom prst="roundRect">
            <a:avLst>
              <a:gd name="adj" fmla="val 15000"/>
            </a:avLst>
          </a:prstGeom>
          <a:solidFill>
            <a:srgbClr val="1C75C9"/>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2064" y="2011680"/>
            <a:ext cx="402336" cy="402336"/>
          </a:xfrm>
          <a:prstGeom prst="rect">
            <a:avLst/>
          </a:prstGeom>
          <a:noFill/>
        </p:spPr>
        <p:txBody>
          <a:bodyPr wrap="square" lIns="45720" tIns="18288" rIns="45720" bIns="18288" anchor="ctr">
            <a:spAutoFit/>
          </a:bodyPr>
          <a:lstStyle/>
          <a:p>
            <a:pPr algn="ctr"/>
            <a:r>
              <a:rPr sz="1300" b="1">
                <a:solidFill>
                  <a:srgbClr val="FFFFFF"/>
                </a:solidFill>
                <a:latin typeface="Noto Sans KR"/>
              </a:rPr>
              <a:t>01</a:t>
            </a:r>
          </a:p>
        </p:txBody>
      </p:sp>
      <p:sp>
        <p:nvSpPr>
          <p:cNvPr id="7" name="TextBox 6"/>
          <p:cNvSpPr txBox="1"/>
          <p:nvPr/>
        </p:nvSpPr>
        <p:spPr>
          <a:xfrm>
            <a:off x="512064" y="2505456"/>
            <a:ext cx="1559509" cy="365760"/>
          </a:xfrm>
          <a:prstGeom prst="rect">
            <a:avLst/>
          </a:prstGeom>
          <a:noFill/>
        </p:spPr>
        <p:txBody>
          <a:bodyPr wrap="square" lIns="45720" tIns="18288" rIns="45720" bIns="18288" anchor="t">
            <a:spAutoFit/>
          </a:bodyPr>
          <a:lstStyle/>
          <a:p>
            <a:pPr algn="l"/>
            <a:r>
              <a:rPr sz="1300" b="1">
                <a:solidFill>
                  <a:srgbClr val="1E293B"/>
                </a:solidFill>
                <a:latin typeface="Noto Sans KR"/>
              </a:rPr>
              <a:t>AI 선정 &amp; 친숙화</a:t>
            </a:r>
          </a:p>
        </p:txBody>
      </p:sp>
      <p:sp>
        <p:nvSpPr>
          <p:cNvPr id="8" name="TextBox 7"/>
          <p:cNvSpPr txBox="1"/>
          <p:nvPr/>
        </p:nvSpPr>
        <p:spPr>
          <a:xfrm>
            <a:off x="502920" y="2889504"/>
            <a:ext cx="1559509" cy="713232"/>
          </a:xfrm>
          <a:prstGeom prst="rect">
            <a:avLst/>
          </a:prstGeom>
          <a:noFill/>
        </p:spPr>
        <p:txBody>
          <a:bodyPr wrap="square" lIns="45720" tIns="18288" rIns="45720" bIns="18288" anchor="ctr">
            <a:spAutoFit/>
          </a:bodyPr>
          <a:lstStyle/>
          <a:p>
            <a:pPr algn="l">
              <a:lnSpc>
                <a:spcPct val="125000"/>
              </a:lnSpc>
            </a:pPr>
            <a:r>
              <a:rPr sz="1200" b="0">
                <a:solidFill>
                  <a:srgbClr val="475569"/>
                </a:solidFill>
                <a:latin typeface="Noto Sans KR"/>
              </a:rPr>
              <a:t>AI 어시스턴트 친숙화
프롬프트 기초 습득</a:t>
            </a:r>
          </a:p>
        </p:txBody>
      </p:sp>
      <p:sp>
        <p:nvSpPr>
          <p:cNvPr id="9" name="Rounded Rectangle 8"/>
          <p:cNvSpPr/>
          <p:nvPr/>
        </p:nvSpPr>
        <p:spPr>
          <a:xfrm>
            <a:off x="2291029" y="1828800"/>
            <a:ext cx="1833829" cy="2194560"/>
          </a:xfrm>
          <a:prstGeom prst="roundRect">
            <a:avLst>
              <a:gd name="adj" fmla="val 3989"/>
            </a:avLst>
          </a:prstGeom>
          <a:solidFill>
            <a:srgbClr val="FFFFFF"/>
          </a:solidFill>
          <a:ln w="19050">
            <a:solidFill>
              <a:srgbClr val="1C75C9"/>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ounded Rectangle 9"/>
          <p:cNvSpPr/>
          <p:nvPr/>
        </p:nvSpPr>
        <p:spPr>
          <a:xfrm>
            <a:off x="2437333" y="2011680"/>
            <a:ext cx="402336" cy="402336"/>
          </a:xfrm>
          <a:prstGeom prst="roundRect">
            <a:avLst>
              <a:gd name="adj" fmla="val 15000"/>
            </a:avLst>
          </a:prstGeom>
          <a:solidFill>
            <a:srgbClr val="1C75C9"/>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2437333" y="2011680"/>
            <a:ext cx="402336" cy="402336"/>
          </a:xfrm>
          <a:prstGeom prst="rect">
            <a:avLst/>
          </a:prstGeom>
          <a:noFill/>
        </p:spPr>
        <p:txBody>
          <a:bodyPr wrap="square" lIns="45720" tIns="18288" rIns="45720" bIns="18288" anchor="ctr">
            <a:spAutoFit/>
          </a:bodyPr>
          <a:lstStyle/>
          <a:p>
            <a:pPr algn="ctr"/>
            <a:r>
              <a:rPr sz="1300" b="1">
                <a:solidFill>
                  <a:srgbClr val="FFFFFF"/>
                </a:solidFill>
                <a:latin typeface="Noto Sans KR"/>
              </a:rPr>
              <a:t>02</a:t>
            </a:r>
          </a:p>
        </p:txBody>
      </p:sp>
      <p:sp>
        <p:nvSpPr>
          <p:cNvPr id="12" name="TextBox 11"/>
          <p:cNvSpPr txBox="1"/>
          <p:nvPr/>
        </p:nvSpPr>
        <p:spPr>
          <a:xfrm>
            <a:off x="2437333" y="2505456"/>
            <a:ext cx="1559509" cy="365760"/>
          </a:xfrm>
          <a:prstGeom prst="rect">
            <a:avLst/>
          </a:prstGeom>
          <a:noFill/>
        </p:spPr>
        <p:txBody>
          <a:bodyPr wrap="square" lIns="45720" tIns="18288" rIns="45720" bIns="18288" anchor="t">
            <a:spAutoFit/>
          </a:bodyPr>
          <a:lstStyle/>
          <a:p>
            <a:pPr algn="l"/>
            <a:r>
              <a:rPr sz="1500" b="1">
                <a:solidFill>
                  <a:srgbClr val="1E293B"/>
                </a:solidFill>
                <a:latin typeface="Noto Sans KR"/>
              </a:rPr>
              <a:t>웹 취약점 기초</a:t>
            </a:r>
          </a:p>
        </p:txBody>
      </p:sp>
      <p:sp>
        <p:nvSpPr>
          <p:cNvPr id="13" name="TextBox 12"/>
          <p:cNvSpPr txBox="1"/>
          <p:nvPr/>
        </p:nvSpPr>
        <p:spPr>
          <a:xfrm>
            <a:off x="2428189" y="2889504"/>
            <a:ext cx="1559509" cy="713232"/>
          </a:xfrm>
          <a:prstGeom prst="rect">
            <a:avLst/>
          </a:prstGeom>
          <a:noFill/>
        </p:spPr>
        <p:txBody>
          <a:bodyPr wrap="square" lIns="45720" tIns="18288" rIns="45720" bIns="18288" anchor="ctr">
            <a:spAutoFit/>
          </a:bodyPr>
          <a:lstStyle/>
          <a:p>
            <a:pPr algn="l">
              <a:lnSpc>
                <a:spcPct val="125000"/>
              </a:lnSpc>
            </a:pPr>
            <a:r>
              <a:rPr sz="1200" b="0">
                <a:solidFill>
                  <a:srgbClr val="475569"/>
                </a:solidFill>
                <a:latin typeface="Noto Sans KR"/>
              </a:rPr>
              <a:t>SQL Injection · XSS
공격 원리 학습</a:t>
            </a:r>
          </a:p>
        </p:txBody>
      </p:sp>
      <p:sp>
        <p:nvSpPr>
          <p:cNvPr id="14" name="Rounded Rectangle 13"/>
          <p:cNvSpPr/>
          <p:nvPr/>
        </p:nvSpPr>
        <p:spPr>
          <a:xfrm>
            <a:off x="4216298" y="1828800"/>
            <a:ext cx="1833829" cy="2194560"/>
          </a:xfrm>
          <a:prstGeom prst="roundRect">
            <a:avLst>
              <a:gd name="adj" fmla="val 3989"/>
            </a:avLst>
          </a:prstGeom>
          <a:solidFill>
            <a:srgbClr val="FFFFFF"/>
          </a:solidFill>
          <a:ln w="19050">
            <a:solidFill>
              <a:srgbClr val="1C75C9"/>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4362602" y="2011680"/>
            <a:ext cx="402336" cy="402336"/>
          </a:xfrm>
          <a:prstGeom prst="roundRect">
            <a:avLst>
              <a:gd name="adj" fmla="val 15000"/>
            </a:avLst>
          </a:prstGeom>
          <a:solidFill>
            <a:srgbClr val="1C75C9"/>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362602" y="2011680"/>
            <a:ext cx="402336" cy="402336"/>
          </a:xfrm>
          <a:prstGeom prst="rect">
            <a:avLst/>
          </a:prstGeom>
          <a:noFill/>
        </p:spPr>
        <p:txBody>
          <a:bodyPr wrap="square" lIns="45720" tIns="18288" rIns="45720" bIns="18288" anchor="ctr">
            <a:spAutoFit/>
          </a:bodyPr>
          <a:lstStyle/>
          <a:p>
            <a:pPr algn="ctr"/>
            <a:r>
              <a:rPr sz="1300" b="1">
                <a:solidFill>
                  <a:srgbClr val="FFFFFF"/>
                </a:solidFill>
                <a:latin typeface="Noto Sans KR"/>
              </a:rPr>
              <a:t>03</a:t>
            </a:r>
          </a:p>
        </p:txBody>
      </p:sp>
      <p:sp>
        <p:nvSpPr>
          <p:cNvPr id="17" name="TextBox 16"/>
          <p:cNvSpPr txBox="1"/>
          <p:nvPr/>
        </p:nvSpPr>
        <p:spPr>
          <a:xfrm>
            <a:off x="4362602" y="2505456"/>
            <a:ext cx="1559509" cy="365760"/>
          </a:xfrm>
          <a:prstGeom prst="rect">
            <a:avLst/>
          </a:prstGeom>
          <a:noFill/>
        </p:spPr>
        <p:txBody>
          <a:bodyPr wrap="square" lIns="45720" tIns="18288" rIns="45720" bIns="18288" anchor="t">
            <a:spAutoFit/>
          </a:bodyPr>
          <a:lstStyle/>
          <a:p>
            <a:pPr algn="l"/>
            <a:r>
              <a:rPr sz="1200" b="1">
                <a:solidFill>
                  <a:srgbClr val="1E293B"/>
                </a:solidFill>
                <a:latin typeface="Noto Sans KR"/>
              </a:rPr>
              <a:t>정보 수집 (Recon)</a:t>
            </a:r>
          </a:p>
        </p:txBody>
      </p:sp>
      <p:sp>
        <p:nvSpPr>
          <p:cNvPr id="18" name="TextBox 17"/>
          <p:cNvSpPr txBox="1"/>
          <p:nvPr/>
        </p:nvSpPr>
        <p:spPr>
          <a:xfrm>
            <a:off x="4353458" y="2889504"/>
            <a:ext cx="1559509" cy="713232"/>
          </a:xfrm>
          <a:prstGeom prst="rect">
            <a:avLst/>
          </a:prstGeom>
          <a:noFill/>
        </p:spPr>
        <p:txBody>
          <a:bodyPr wrap="square" lIns="45720" tIns="18288" rIns="45720" bIns="18288" anchor="ctr">
            <a:spAutoFit/>
          </a:bodyPr>
          <a:lstStyle/>
          <a:p>
            <a:pPr algn="l">
              <a:lnSpc>
                <a:spcPct val="125000"/>
              </a:lnSpc>
            </a:pPr>
            <a:r>
              <a:rPr sz="1200" b="0">
                <a:solidFill>
                  <a:srgbClr val="475569"/>
                </a:solidFill>
                <a:latin typeface="Noto Sans KR"/>
              </a:rPr>
              <a:t>OSINT · Dirsearch
AI에 줄 단서 수집</a:t>
            </a:r>
          </a:p>
        </p:txBody>
      </p:sp>
      <p:sp>
        <p:nvSpPr>
          <p:cNvPr id="19" name="Rounded Rectangle 18"/>
          <p:cNvSpPr/>
          <p:nvPr/>
        </p:nvSpPr>
        <p:spPr>
          <a:xfrm>
            <a:off x="6141567" y="1828800"/>
            <a:ext cx="1833829" cy="2194560"/>
          </a:xfrm>
          <a:prstGeom prst="roundRect">
            <a:avLst>
              <a:gd name="adj" fmla="val 3989"/>
            </a:avLst>
          </a:prstGeom>
          <a:solidFill>
            <a:srgbClr val="FFFFFF"/>
          </a:solidFill>
          <a:ln w="19050">
            <a:solidFill>
              <a:srgbClr val="1C75C9"/>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6287871" y="2011680"/>
            <a:ext cx="402336" cy="402336"/>
          </a:xfrm>
          <a:prstGeom prst="roundRect">
            <a:avLst>
              <a:gd name="adj" fmla="val 15000"/>
            </a:avLst>
          </a:prstGeom>
          <a:solidFill>
            <a:srgbClr val="1C75C9"/>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287871" y="2011680"/>
            <a:ext cx="402336" cy="402336"/>
          </a:xfrm>
          <a:prstGeom prst="rect">
            <a:avLst/>
          </a:prstGeom>
          <a:noFill/>
        </p:spPr>
        <p:txBody>
          <a:bodyPr wrap="square" lIns="45720" tIns="18288" rIns="45720" bIns="18288" anchor="ctr">
            <a:spAutoFit/>
          </a:bodyPr>
          <a:lstStyle/>
          <a:p>
            <a:pPr algn="ctr"/>
            <a:r>
              <a:rPr sz="1300" b="1">
                <a:solidFill>
                  <a:srgbClr val="FFFFFF"/>
                </a:solidFill>
                <a:latin typeface="Noto Sans KR"/>
              </a:rPr>
              <a:t>04</a:t>
            </a:r>
          </a:p>
        </p:txBody>
      </p:sp>
      <p:sp>
        <p:nvSpPr>
          <p:cNvPr id="22" name="TextBox 21"/>
          <p:cNvSpPr txBox="1"/>
          <p:nvPr/>
        </p:nvSpPr>
        <p:spPr>
          <a:xfrm>
            <a:off x="6287871" y="2505456"/>
            <a:ext cx="1559509" cy="365760"/>
          </a:xfrm>
          <a:prstGeom prst="rect">
            <a:avLst/>
          </a:prstGeom>
          <a:noFill/>
        </p:spPr>
        <p:txBody>
          <a:bodyPr wrap="square" lIns="45720" tIns="18288" rIns="45720" bIns="18288" anchor="t">
            <a:spAutoFit/>
          </a:bodyPr>
          <a:lstStyle/>
          <a:p>
            <a:pPr algn="l"/>
            <a:r>
              <a:rPr sz="1200" b="1">
                <a:solidFill>
                  <a:srgbClr val="1E293B"/>
                </a:solidFill>
                <a:latin typeface="Noto Sans KR"/>
              </a:rPr>
              <a:t>정보 없이 AI 던지기</a:t>
            </a:r>
          </a:p>
        </p:txBody>
      </p:sp>
      <p:sp>
        <p:nvSpPr>
          <p:cNvPr id="23" name="TextBox 22"/>
          <p:cNvSpPr txBox="1"/>
          <p:nvPr/>
        </p:nvSpPr>
        <p:spPr>
          <a:xfrm>
            <a:off x="6278727" y="2889504"/>
            <a:ext cx="1559509" cy="713232"/>
          </a:xfrm>
          <a:prstGeom prst="rect">
            <a:avLst/>
          </a:prstGeom>
          <a:noFill/>
        </p:spPr>
        <p:txBody>
          <a:bodyPr wrap="square" lIns="45720" tIns="18288" rIns="45720" bIns="18288" anchor="ctr">
            <a:spAutoFit/>
          </a:bodyPr>
          <a:lstStyle/>
          <a:p>
            <a:pPr algn="l">
              <a:lnSpc>
                <a:spcPct val="125000"/>
              </a:lnSpc>
            </a:pPr>
            <a:r>
              <a:rPr sz="1200" b="0">
                <a:solidFill>
                  <a:srgbClr val="475569"/>
                </a:solidFill>
                <a:latin typeface="Noto Sans KR"/>
              </a:rPr>
              <a:t>URL만 주고
AI 자율 탐색 관찰</a:t>
            </a:r>
          </a:p>
        </p:txBody>
      </p:sp>
      <p:sp>
        <p:nvSpPr>
          <p:cNvPr id="24" name="TextBox 23"/>
          <p:cNvSpPr txBox="1"/>
          <p:nvPr/>
        </p:nvSpPr>
        <p:spPr>
          <a:xfrm>
            <a:off x="6278727" y="3639312"/>
            <a:ext cx="1559509" cy="292608"/>
          </a:xfrm>
          <a:prstGeom prst="rect">
            <a:avLst/>
          </a:prstGeom>
          <a:noFill/>
        </p:spPr>
        <p:txBody>
          <a:bodyPr wrap="square" lIns="45720" tIns="18288" rIns="45720" bIns="18288" anchor="ctr">
            <a:spAutoFit/>
          </a:bodyPr>
          <a:lstStyle/>
          <a:p>
            <a:pPr algn="l"/>
            <a:r>
              <a:rPr sz="1000" b="1">
                <a:solidFill>
                  <a:srgbClr val="1C75C9"/>
                </a:solidFill>
                <a:latin typeface="Noto Sans KR"/>
              </a:rPr>
              <a:t>정보 없음 (Zero-info)</a:t>
            </a:r>
          </a:p>
        </p:txBody>
      </p:sp>
      <p:sp>
        <p:nvSpPr>
          <p:cNvPr id="25" name="Rounded Rectangle 24"/>
          <p:cNvSpPr/>
          <p:nvPr/>
        </p:nvSpPr>
        <p:spPr>
          <a:xfrm>
            <a:off x="8066836" y="1828800"/>
            <a:ext cx="1833829" cy="2194560"/>
          </a:xfrm>
          <a:prstGeom prst="roundRect">
            <a:avLst>
              <a:gd name="adj" fmla="val 3989"/>
            </a:avLst>
          </a:prstGeom>
          <a:solidFill>
            <a:srgbClr val="FFFFFF"/>
          </a:solidFill>
          <a:ln w="19050">
            <a:solidFill>
              <a:srgbClr val="1C75C9"/>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ounded Rectangle 25"/>
          <p:cNvSpPr/>
          <p:nvPr/>
        </p:nvSpPr>
        <p:spPr>
          <a:xfrm>
            <a:off x="8213140" y="2011680"/>
            <a:ext cx="402336" cy="402336"/>
          </a:xfrm>
          <a:prstGeom prst="roundRect">
            <a:avLst>
              <a:gd name="adj" fmla="val 15000"/>
            </a:avLst>
          </a:prstGeom>
          <a:solidFill>
            <a:srgbClr val="1C75C9"/>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213140" y="2011680"/>
            <a:ext cx="402336" cy="402336"/>
          </a:xfrm>
          <a:prstGeom prst="rect">
            <a:avLst/>
          </a:prstGeom>
          <a:noFill/>
        </p:spPr>
        <p:txBody>
          <a:bodyPr wrap="square" lIns="45720" tIns="18288" rIns="45720" bIns="18288" anchor="ctr">
            <a:spAutoFit/>
          </a:bodyPr>
          <a:lstStyle/>
          <a:p>
            <a:pPr algn="ctr"/>
            <a:r>
              <a:rPr sz="1300" b="1">
                <a:solidFill>
                  <a:srgbClr val="FFFFFF"/>
                </a:solidFill>
                <a:latin typeface="Noto Sans KR"/>
              </a:rPr>
              <a:t>05</a:t>
            </a:r>
          </a:p>
        </p:txBody>
      </p:sp>
      <p:sp>
        <p:nvSpPr>
          <p:cNvPr id="28" name="TextBox 27"/>
          <p:cNvSpPr txBox="1"/>
          <p:nvPr/>
        </p:nvSpPr>
        <p:spPr>
          <a:xfrm>
            <a:off x="8213140" y="2505456"/>
            <a:ext cx="1559509" cy="365760"/>
          </a:xfrm>
          <a:prstGeom prst="rect">
            <a:avLst/>
          </a:prstGeom>
          <a:noFill/>
        </p:spPr>
        <p:txBody>
          <a:bodyPr wrap="square" lIns="45720" tIns="18288" rIns="45720" bIns="18288" anchor="t">
            <a:spAutoFit/>
          </a:bodyPr>
          <a:lstStyle/>
          <a:p>
            <a:pPr algn="l"/>
            <a:r>
              <a:rPr sz="1200" b="1">
                <a:solidFill>
                  <a:srgbClr val="1E293B"/>
                </a:solidFill>
                <a:latin typeface="Noto Sans KR"/>
              </a:rPr>
              <a:t>정보 풍부한 AI 활용</a:t>
            </a:r>
          </a:p>
        </p:txBody>
      </p:sp>
      <p:sp>
        <p:nvSpPr>
          <p:cNvPr id="29" name="TextBox 28"/>
          <p:cNvSpPr txBox="1"/>
          <p:nvPr/>
        </p:nvSpPr>
        <p:spPr>
          <a:xfrm>
            <a:off x="8203996" y="2889504"/>
            <a:ext cx="1559509" cy="713232"/>
          </a:xfrm>
          <a:prstGeom prst="rect">
            <a:avLst/>
          </a:prstGeom>
          <a:noFill/>
        </p:spPr>
        <p:txBody>
          <a:bodyPr wrap="square" lIns="45720" tIns="18288" rIns="45720" bIns="18288" anchor="ctr">
            <a:spAutoFit/>
          </a:bodyPr>
          <a:lstStyle/>
          <a:p>
            <a:pPr algn="l">
              <a:lnSpc>
                <a:spcPct val="125000"/>
              </a:lnSpc>
            </a:pPr>
            <a:r>
              <a:rPr sz="1200" b="0">
                <a:solidFill>
                  <a:srgbClr val="475569"/>
                </a:solidFill>
                <a:latin typeface="Noto Sans KR"/>
              </a:rPr>
              <a:t>가공 단서로
AI 진단 실력 극대화</a:t>
            </a:r>
          </a:p>
        </p:txBody>
      </p:sp>
      <p:sp>
        <p:nvSpPr>
          <p:cNvPr id="30" name="TextBox 29"/>
          <p:cNvSpPr txBox="1"/>
          <p:nvPr/>
        </p:nvSpPr>
        <p:spPr>
          <a:xfrm>
            <a:off x="8203996" y="3639312"/>
            <a:ext cx="1559509" cy="292608"/>
          </a:xfrm>
          <a:prstGeom prst="rect">
            <a:avLst/>
          </a:prstGeom>
          <a:noFill/>
        </p:spPr>
        <p:txBody>
          <a:bodyPr wrap="square" lIns="45720" tIns="18288" rIns="45720" bIns="18288" anchor="ctr">
            <a:spAutoFit/>
          </a:bodyPr>
          <a:lstStyle/>
          <a:p>
            <a:pPr algn="l"/>
            <a:r>
              <a:rPr sz="1000" b="1">
                <a:solidFill>
                  <a:srgbClr val="1C75C9"/>
                </a:solidFill>
                <a:latin typeface="Noto Sans KR"/>
              </a:rPr>
              <a:t>정보 풍부 (Full-info)</a:t>
            </a:r>
          </a:p>
        </p:txBody>
      </p:sp>
      <p:sp>
        <p:nvSpPr>
          <p:cNvPr id="31" name="Rounded Rectangle 30"/>
          <p:cNvSpPr/>
          <p:nvPr/>
        </p:nvSpPr>
        <p:spPr>
          <a:xfrm>
            <a:off x="9992106" y="1828800"/>
            <a:ext cx="1833829" cy="2194560"/>
          </a:xfrm>
          <a:prstGeom prst="roundRect">
            <a:avLst>
              <a:gd name="adj" fmla="val 3989"/>
            </a:avLst>
          </a:prstGeom>
          <a:solidFill>
            <a:srgbClr val="FFFFFF"/>
          </a:solidFill>
          <a:ln w="19050">
            <a:solidFill>
              <a:srgbClr val="1C75C9"/>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10138410" y="2011680"/>
            <a:ext cx="402336" cy="402336"/>
          </a:xfrm>
          <a:prstGeom prst="roundRect">
            <a:avLst>
              <a:gd name="adj" fmla="val 15000"/>
            </a:avLst>
          </a:prstGeom>
          <a:solidFill>
            <a:srgbClr val="1C75C9"/>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10138410" y="2011680"/>
            <a:ext cx="402336" cy="402336"/>
          </a:xfrm>
          <a:prstGeom prst="rect">
            <a:avLst/>
          </a:prstGeom>
          <a:noFill/>
        </p:spPr>
        <p:txBody>
          <a:bodyPr wrap="square" lIns="45720" tIns="18288" rIns="45720" bIns="18288" anchor="ctr">
            <a:spAutoFit/>
          </a:bodyPr>
          <a:lstStyle/>
          <a:p>
            <a:pPr algn="ctr"/>
            <a:r>
              <a:rPr sz="1300" b="1">
                <a:solidFill>
                  <a:srgbClr val="FFFFFF"/>
                </a:solidFill>
                <a:latin typeface="Noto Sans KR"/>
              </a:rPr>
              <a:t>06</a:t>
            </a:r>
          </a:p>
        </p:txBody>
      </p:sp>
      <p:sp>
        <p:nvSpPr>
          <p:cNvPr id="34" name="TextBox 33"/>
          <p:cNvSpPr txBox="1"/>
          <p:nvPr/>
        </p:nvSpPr>
        <p:spPr>
          <a:xfrm>
            <a:off x="10138410" y="2505456"/>
            <a:ext cx="1559509" cy="365760"/>
          </a:xfrm>
          <a:prstGeom prst="rect">
            <a:avLst/>
          </a:prstGeom>
          <a:noFill/>
        </p:spPr>
        <p:txBody>
          <a:bodyPr wrap="square" lIns="45720" tIns="18288" rIns="45720" bIns="18288" anchor="t">
            <a:spAutoFit/>
          </a:bodyPr>
          <a:lstStyle/>
          <a:p>
            <a:pPr algn="l"/>
            <a:r>
              <a:rPr sz="1200" b="1">
                <a:solidFill>
                  <a:srgbClr val="1E293B"/>
                </a:solidFill>
                <a:latin typeface="Noto Sans KR"/>
              </a:rPr>
              <a:t>보고서 &amp; 취약점 보완</a:t>
            </a:r>
          </a:p>
        </p:txBody>
      </p:sp>
      <p:sp>
        <p:nvSpPr>
          <p:cNvPr id="35" name="TextBox 34"/>
          <p:cNvSpPr txBox="1"/>
          <p:nvPr/>
        </p:nvSpPr>
        <p:spPr>
          <a:xfrm>
            <a:off x="10129266" y="2889504"/>
            <a:ext cx="1559509" cy="713232"/>
          </a:xfrm>
          <a:prstGeom prst="rect">
            <a:avLst/>
          </a:prstGeom>
          <a:noFill/>
        </p:spPr>
        <p:txBody>
          <a:bodyPr wrap="square" lIns="45720" tIns="18288" rIns="45720" bIns="18288" anchor="ctr">
            <a:spAutoFit/>
          </a:bodyPr>
          <a:lstStyle/>
          <a:p>
            <a:pPr algn="l">
              <a:lnSpc>
                <a:spcPct val="125000"/>
              </a:lnSpc>
            </a:pPr>
            <a:r>
              <a:rPr sz="1300" b="0">
                <a:solidFill>
                  <a:srgbClr val="475569"/>
                </a:solidFill>
                <a:latin typeface="Noto Sans KR"/>
              </a:rPr>
              <a:t>발견 취약점 정리
방어 전략 수립</a:t>
            </a:r>
          </a:p>
        </p:txBody>
      </p:sp>
      <p:sp>
        <p:nvSpPr>
          <p:cNvPr id="36" name="Rectangle 35"/>
          <p:cNvSpPr/>
          <p:nvPr/>
        </p:nvSpPr>
        <p:spPr>
          <a:xfrm>
            <a:off x="365760" y="4224528"/>
            <a:ext cx="3759098" cy="292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365760" y="4023360"/>
            <a:ext cx="29260" cy="201167"/>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4095597" y="4023360"/>
            <a:ext cx="29260" cy="201167"/>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2230678" y="4224528"/>
            <a:ext cx="29260" cy="12801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365760" y="4407408"/>
            <a:ext cx="3759098" cy="310896"/>
          </a:xfrm>
          <a:prstGeom prst="rect">
            <a:avLst/>
          </a:prstGeom>
          <a:noFill/>
        </p:spPr>
        <p:txBody>
          <a:bodyPr wrap="square" lIns="45720" tIns="18288" rIns="45720" bIns="18288" anchor="t">
            <a:spAutoFit/>
          </a:bodyPr>
          <a:lstStyle/>
          <a:p>
            <a:pPr algn="ctr"/>
            <a:r>
              <a:rPr sz="1300" b="1">
                <a:solidFill>
                  <a:srgbClr val="F59E0B"/>
                </a:solidFill>
                <a:latin typeface="Noto Sans KR"/>
              </a:rPr>
              <a:t>STAGE 1 · 기초 다지기</a:t>
            </a:r>
          </a:p>
        </p:txBody>
      </p:sp>
      <p:sp>
        <p:nvSpPr>
          <p:cNvPr id="41" name="TextBox 40"/>
          <p:cNvSpPr txBox="1"/>
          <p:nvPr/>
        </p:nvSpPr>
        <p:spPr>
          <a:xfrm>
            <a:off x="365760" y="4736592"/>
            <a:ext cx="3759098" cy="310896"/>
          </a:xfrm>
          <a:prstGeom prst="rect">
            <a:avLst/>
          </a:prstGeom>
          <a:noFill/>
        </p:spPr>
        <p:txBody>
          <a:bodyPr wrap="square" lIns="45720" tIns="18288" rIns="45720" bIns="18288" anchor="t">
            <a:spAutoFit/>
          </a:bodyPr>
          <a:lstStyle/>
          <a:p>
            <a:pPr algn="ctr"/>
            <a:r>
              <a:rPr sz="1200" b="0">
                <a:solidFill>
                  <a:srgbClr val="334155"/>
                </a:solidFill>
                <a:latin typeface="Noto Sans KR"/>
              </a:rPr>
              <a:t>AI·웹 취약점 기본기</a:t>
            </a:r>
          </a:p>
        </p:txBody>
      </p:sp>
      <p:sp>
        <p:nvSpPr>
          <p:cNvPr id="42" name="Rectangle 41"/>
          <p:cNvSpPr/>
          <p:nvPr/>
        </p:nvSpPr>
        <p:spPr>
          <a:xfrm>
            <a:off x="4216298" y="4224528"/>
            <a:ext cx="5684367" cy="292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4216298" y="4023360"/>
            <a:ext cx="29260" cy="201167"/>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9871405" y="4023360"/>
            <a:ext cx="29260" cy="201167"/>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7043851" y="4224528"/>
            <a:ext cx="29260" cy="12801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4216298" y="4407408"/>
            <a:ext cx="5684367" cy="310896"/>
          </a:xfrm>
          <a:prstGeom prst="rect">
            <a:avLst/>
          </a:prstGeom>
          <a:noFill/>
        </p:spPr>
        <p:txBody>
          <a:bodyPr wrap="square" lIns="45720" tIns="18288" rIns="45720" bIns="18288" anchor="t">
            <a:spAutoFit/>
          </a:bodyPr>
          <a:lstStyle/>
          <a:p>
            <a:pPr algn="ctr"/>
            <a:r>
              <a:rPr sz="1300" b="1">
                <a:solidFill>
                  <a:srgbClr val="F59E0B"/>
                </a:solidFill>
                <a:latin typeface="Noto Sans KR"/>
              </a:rPr>
              <a:t>STAGE 2 · AI 실전: 정보량 대조 실험</a:t>
            </a:r>
          </a:p>
        </p:txBody>
      </p:sp>
      <p:sp>
        <p:nvSpPr>
          <p:cNvPr id="47" name="TextBox 46"/>
          <p:cNvSpPr txBox="1"/>
          <p:nvPr/>
        </p:nvSpPr>
        <p:spPr>
          <a:xfrm>
            <a:off x="4216298" y="4736592"/>
            <a:ext cx="5684367" cy="310896"/>
          </a:xfrm>
          <a:prstGeom prst="rect">
            <a:avLst/>
          </a:prstGeom>
          <a:noFill/>
        </p:spPr>
        <p:txBody>
          <a:bodyPr wrap="square" lIns="45720" tIns="18288" rIns="45720" bIns="18288" anchor="t">
            <a:spAutoFit/>
          </a:bodyPr>
          <a:lstStyle/>
          <a:p>
            <a:pPr algn="ctr"/>
            <a:r>
              <a:rPr sz="1200" b="0">
                <a:solidFill>
                  <a:srgbClr val="334155"/>
                </a:solidFill>
                <a:latin typeface="Noto Sans KR"/>
              </a:rPr>
              <a:t>04 정보 없음 ↔ 05 정보 풍부 대조</a:t>
            </a:r>
          </a:p>
        </p:txBody>
      </p:sp>
      <p:sp>
        <p:nvSpPr>
          <p:cNvPr id="48" name="TextBox 47"/>
          <p:cNvSpPr txBox="1"/>
          <p:nvPr/>
        </p:nvSpPr>
        <p:spPr>
          <a:xfrm>
            <a:off x="4216298" y="5065776"/>
            <a:ext cx="5684367" cy="274320"/>
          </a:xfrm>
          <a:prstGeom prst="rect">
            <a:avLst/>
          </a:prstGeom>
          <a:noFill/>
        </p:spPr>
        <p:txBody>
          <a:bodyPr wrap="square" lIns="45720" tIns="18288" rIns="45720" bIns="18288" anchor="t">
            <a:spAutoFit/>
          </a:bodyPr>
          <a:lstStyle/>
          <a:p>
            <a:pPr algn="ctr"/>
            <a:r>
              <a:rPr sz="1100" b="0">
                <a:solidFill>
                  <a:srgbClr val="64748B"/>
                </a:solidFill>
                <a:latin typeface="Noto Sans KR"/>
              </a:rPr>
              <a:t>정보량에 따른 AI 진단 성과 차이 체험</a:t>
            </a:r>
          </a:p>
        </p:txBody>
      </p:sp>
      <p:sp>
        <p:nvSpPr>
          <p:cNvPr id="49" name="Rectangle 48"/>
          <p:cNvSpPr/>
          <p:nvPr/>
        </p:nvSpPr>
        <p:spPr>
          <a:xfrm>
            <a:off x="9992106" y="4224528"/>
            <a:ext cx="1833829" cy="292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ectangle 49"/>
          <p:cNvSpPr/>
          <p:nvPr/>
        </p:nvSpPr>
        <p:spPr>
          <a:xfrm>
            <a:off x="9992106" y="4023360"/>
            <a:ext cx="29260" cy="201167"/>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Rectangle 50"/>
          <p:cNvSpPr/>
          <p:nvPr/>
        </p:nvSpPr>
        <p:spPr>
          <a:xfrm>
            <a:off x="11796674" y="4023360"/>
            <a:ext cx="29260" cy="201167"/>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ectangle 51"/>
          <p:cNvSpPr/>
          <p:nvPr/>
        </p:nvSpPr>
        <p:spPr>
          <a:xfrm>
            <a:off x="10894390" y="4224528"/>
            <a:ext cx="29260" cy="12801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9903180" y="4407408"/>
            <a:ext cx="2011680" cy="310896"/>
          </a:xfrm>
          <a:prstGeom prst="rect">
            <a:avLst/>
          </a:prstGeom>
          <a:noFill/>
        </p:spPr>
        <p:txBody>
          <a:bodyPr wrap="square" lIns="45720" tIns="18288" rIns="45720" bIns="18288" anchor="t">
            <a:spAutoFit/>
          </a:bodyPr>
          <a:lstStyle/>
          <a:p>
            <a:pPr algn="ctr"/>
            <a:r>
              <a:rPr sz="1300" b="1">
                <a:solidFill>
                  <a:srgbClr val="F59E0B"/>
                </a:solidFill>
                <a:latin typeface="Noto Sans KR"/>
              </a:rPr>
              <a:t>STAGE 3 · 마무리</a:t>
            </a:r>
          </a:p>
        </p:txBody>
      </p:sp>
      <p:sp>
        <p:nvSpPr>
          <p:cNvPr id="54" name="TextBox 53"/>
          <p:cNvSpPr txBox="1"/>
          <p:nvPr/>
        </p:nvSpPr>
        <p:spPr>
          <a:xfrm>
            <a:off x="9903180" y="4736592"/>
            <a:ext cx="2011680" cy="310896"/>
          </a:xfrm>
          <a:prstGeom prst="rect">
            <a:avLst/>
          </a:prstGeom>
          <a:noFill/>
        </p:spPr>
        <p:txBody>
          <a:bodyPr wrap="square" lIns="45720" tIns="18288" rIns="45720" bIns="18288" anchor="t">
            <a:spAutoFit/>
          </a:bodyPr>
          <a:lstStyle/>
          <a:p>
            <a:pPr algn="ctr"/>
            <a:r>
              <a:rPr sz="1200" b="0">
                <a:solidFill>
                  <a:srgbClr val="334155"/>
                </a:solidFill>
                <a:latin typeface="Noto Sans KR"/>
              </a:rPr>
              <a:t>보고서 · 방어 전략</a:t>
            </a:r>
          </a:p>
        </p:txBody>
      </p:sp>
      <p:sp>
        <p:nvSpPr>
          <p:cNvPr id="55" name="TextBox 54"/>
          <p:cNvSpPr txBox="1"/>
          <p:nvPr/>
        </p:nvSpPr>
        <p:spPr>
          <a:xfrm>
            <a:off x="640080" y="6492240"/>
            <a:ext cx="10728655" cy="228600"/>
          </a:xfrm>
          <a:prstGeom prst="rect">
            <a:avLst/>
          </a:prstGeom>
          <a:noFill/>
        </p:spPr>
        <p:txBody>
          <a:bodyPr wrap="square" lIns="45720" tIns="18288" rIns="45720" bIns="18288" anchor="t">
            <a:spAutoFit/>
          </a:bodyPr>
          <a:lstStyle/>
          <a:p>
            <a:pPr algn="l"/>
            <a:r>
              <a:rPr sz="800" b="0">
                <a:solidFill>
                  <a:srgbClr val="64748B"/>
                </a:solidFill>
                <a:latin typeface="Noto Sans KR"/>
              </a:rPr>
              <a:t>취약점 진단 과정 AI 접목 사례 · 사이버안보훈련센터</a:t>
            </a:r>
          </a:p>
        </p:txBody>
      </p:sp>
      <p:sp>
        <p:nvSpPr>
          <p:cNvPr id="56" name="TextBox 55"/>
          <p:cNvSpPr txBox="1"/>
          <p:nvPr/>
        </p:nvSpPr>
        <p:spPr>
          <a:xfrm>
            <a:off x="11734495" y="6492240"/>
            <a:ext cx="365760" cy="228600"/>
          </a:xfrm>
          <a:prstGeom prst="rect">
            <a:avLst/>
          </a:prstGeom>
          <a:noFill/>
        </p:spPr>
        <p:txBody>
          <a:bodyPr wrap="square" lIns="45720" tIns="18288" rIns="45720" bIns="18288" anchor="t">
            <a:spAutoFit/>
          </a:bodyPr>
          <a:lstStyle/>
          <a:p>
            <a:pPr algn="r"/>
            <a:r>
              <a:rPr sz="900" b="0">
                <a:solidFill>
                  <a:srgbClr val="94A3B8"/>
                </a:solidFill>
                <a:latin typeface="Noto Sans KR"/>
              </a:rPr>
              <a:t>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467</Words>
  <Application>Microsoft Office PowerPoint</Application>
  <PresentationFormat>와이드스크린</PresentationFormat>
  <Paragraphs>42</Paragraphs>
  <Slides>2</Slides>
  <Notes>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vt:i4>
      </vt:variant>
    </vt:vector>
  </HeadingPairs>
  <TitlesOfParts>
    <vt:vector size="6" baseType="lpstr">
      <vt:lpstr>Noto Sans KR</vt:lpstr>
      <vt:lpstr>Arial</vt:lpstr>
      <vt:lpstr>Calibri</vt:lpstr>
      <vt:lpstr>Office Theme</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경아 양</cp:lastModifiedBy>
  <cp:revision>2</cp:revision>
  <dcterms:created xsi:type="dcterms:W3CDTF">2013-01-27T09:14:16Z</dcterms:created>
  <dcterms:modified xsi:type="dcterms:W3CDTF">2026-06-09T05:02:23Z</dcterms:modified>
  <cp:category/>
</cp:coreProperties>
</file>