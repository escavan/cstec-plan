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1" d="100"/>
          <a:sy n="101" d="100"/>
        </p:scale>
        <p:origin x="108"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371831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교육체계 골격 개요 슬라이드입니다. 왼쪽은 기존 일반 사이버보안 교육에 AI 과목을 접목해 최신성을 유지하고 4개 분야(정책·도입·예방·대응)로 재조정한 축입니다. 오른쪽은 새로 신설하는 AI보안 교육으로, AI 3분야를 초·중·고급 레벨로 구성합니다. 두 분야를 병행 운영하는 것이 핵심 메시지입니다.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AI보안 교육 과정 로드맵입니다. 레벨이 올라갈수록 난이도가 높아지는 3단 구조로, 초급(파랑)은 AI 보안 기초와 안전한 활용, 중급(청록)은 로컬 LLM 인프라 구축과 지능형 보안, 고급(녹색)은 LLM 심층 방어와 침해대응·복구를 다룹니다. 총 7개 과정으로 구성됩니다.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로드맵 변형(가로 밴드형)입니다. 왼쪽 레벨 라벨에서 오른쪽 과정 카드로 이어지는 단계별 학습 경로를 강조합니다. 내용은 세로 컬럼형(앞 슬라이드)과 동일하며, 발표 맥락에 맞는 레이아웃을 선택해 사용하면 됩니다.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2027 AI 사이버보안 교육체계는 수준별 3단계 7과정 학습 경로로 구성됩니다. 초급은 전 직원이 AI를 위험 없이 쓰는 안전판(안전한 활용), 중급은 AI를 방어 도구로 쓰는 AI for Security, 고급은 AI 시스템 자체를 지키는 Security for AI 단계입니다. 초급→중급→고급으로 갈수록 난이도와 전문성이 높아지며, 전체 과정의 25%를 AI 보안 과정으로 구성해 'AI를 활용하는 사이버보안 전문 인력양성' 체계로 전환하는 것이 목표입니다.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기존 '취약점 진단 실무' 과정에 AI를 6차시로 단계적으로 접목한 사례입니다. 핵심은 STAGE 2의 정보량 대조 실험으로, 04차시(정보 없이 URL만 던지기)와 05차시(가공된 단서를 풍부하게 제공)를 비교해 AI에게 주는 정보량에 따라 취약점 진단 성과가 어떻게 달라지는지 직접 체험하게 합니다. 단순 도구 사용을 넘어 AI의 자율 탐색 한계와 활용 전략을 학습하는 것이 목표입니다.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658368" y="512064"/>
            <a:ext cx="10893247" cy="731520"/>
          </a:xfrm>
          <a:prstGeom prst="rect">
            <a:avLst/>
          </a:prstGeom>
          <a:noFill/>
        </p:spPr>
        <p:txBody>
          <a:bodyPr wrap="square" lIns="45720" tIns="18288" rIns="45720" bIns="18288" anchor="t">
            <a:spAutoFit/>
          </a:bodyPr>
          <a:lstStyle/>
          <a:p>
            <a:pPr algn="l"/>
            <a:r>
              <a:rPr sz="2700" b="1">
                <a:solidFill>
                  <a:srgbClr val="1B2330"/>
                </a:solidFill>
                <a:latin typeface="Noto Sans KR"/>
              </a:rPr>
              <a:t>AI 사이버안보 교육체계 골격</a:t>
            </a:r>
          </a:p>
        </p:txBody>
      </p:sp>
      <p:sp>
        <p:nvSpPr>
          <p:cNvPr id="3" name="TextBox 2"/>
          <p:cNvSpPr txBox="1"/>
          <p:nvPr/>
        </p:nvSpPr>
        <p:spPr>
          <a:xfrm>
            <a:off x="676656" y="1188720"/>
            <a:ext cx="10820095" cy="365760"/>
          </a:xfrm>
          <a:prstGeom prst="rect">
            <a:avLst/>
          </a:prstGeom>
          <a:noFill/>
        </p:spPr>
        <p:txBody>
          <a:bodyPr wrap="square" lIns="45720" tIns="18288" rIns="45720" bIns="18288" anchor="t">
            <a:spAutoFit/>
          </a:bodyPr>
          <a:lstStyle/>
          <a:p>
            <a:pPr algn="l"/>
            <a:r>
              <a:rPr sz="1300" b="0">
                <a:solidFill>
                  <a:srgbClr val="5B6470"/>
                </a:solidFill>
                <a:latin typeface="Noto Sans KR"/>
              </a:rPr>
              <a:t>2026 AI 과정 현황 이전 — 2개 분야 전체 구조</a:t>
            </a:r>
          </a:p>
        </p:txBody>
      </p:sp>
      <p:sp>
        <p:nvSpPr>
          <p:cNvPr id="4" name="Rounded Rectangle 3"/>
          <p:cNvSpPr/>
          <p:nvPr/>
        </p:nvSpPr>
        <p:spPr>
          <a:xfrm>
            <a:off x="4312767" y="1517904"/>
            <a:ext cx="3566160" cy="548640"/>
          </a:xfrm>
          <a:prstGeom prst="roundRect">
            <a:avLst>
              <a:gd name="adj" fmla="val 15000"/>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4312767" y="1517904"/>
            <a:ext cx="3566160" cy="548640"/>
          </a:xfrm>
          <a:prstGeom prst="rect">
            <a:avLst/>
          </a:prstGeom>
          <a:noFill/>
        </p:spPr>
        <p:txBody>
          <a:bodyPr wrap="square" lIns="45720" tIns="18288" rIns="45720" bIns="18288" anchor="ctr">
            <a:spAutoFit/>
          </a:bodyPr>
          <a:lstStyle/>
          <a:p>
            <a:pPr algn="ctr"/>
            <a:r>
              <a:rPr sz="1600" b="1">
                <a:solidFill>
                  <a:srgbClr val="FFFFFF"/>
                </a:solidFill>
                <a:latin typeface="Noto Sans KR"/>
              </a:rPr>
              <a:t>교육 체계 (Education Framework)</a:t>
            </a:r>
          </a:p>
        </p:txBody>
      </p:sp>
      <p:sp>
        <p:nvSpPr>
          <p:cNvPr id="6" name="Rectangle 5"/>
          <p:cNvSpPr/>
          <p:nvPr/>
        </p:nvSpPr>
        <p:spPr>
          <a:xfrm>
            <a:off x="6084874" y="2066543"/>
            <a:ext cx="21945" cy="292607"/>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3230803" y="2359151"/>
            <a:ext cx="5730087" cy="21945"/>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3219831" y="2359151"/>
            <a:ext cx="21945"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949918" y="2359151"/>
            <a:ext cx="21945"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ounded Rectangle 9"/>
          <p:cNvSpPr/>
          <p:nvPr/>
        </p:nvSpPr>
        <p:spPr>
          <a:xfrm>
            <a:off x="640080" y="2724912"/>
            <a:ext cx="5181447" cy="512064"/>
          </a:xfrm>
          <a:prstGeom prst="roundRect">
            <a:avLst>
              <a:gd name="adj" fmla="val 15000"/>
            </a:avLst>
          </a:prstGeom>
          <a:solidFill>
            <a:srgbClr val="1C75C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40080" y="2724912"/>
            <a:ext cx="5181447" cy="512064"/>
          </a:xfrm>
          <a:prstGeom prst="rect">
            <a:avLst/>
          </a:prstGeom>
          <a:noFill/>
        </p:spPr>
        <p:txBody>
          <a:bodyPr wrap="square" lIns="45720" tIns="18288" rIns="45720" bIns="18288" anchor="ctr">
            <a:spAutoFit/>
          </a:bodyPr>
          <a:lstStyle/>
          <a:p>
            <a:pPr algn="ctr"/>
            <a:r>
              <a:rPr sz="1500" b="1">
                <a:solidFill>
                  <a:srgbClr val="FFFFFF"/>
                </a:solidFill>
                <a:latin typeface="Noto Sans KR"/>
              </a:rPr>
              <a:t>[분야 1]  일반 사이버보안 교육</a:t>
            </a:r>
          </a:p>
        </p:txBody>
      </p:sp>
      <p:sp>
        <p:nvSpPr>
          <p:cNvPr id="12" name="Rounded Rectangle 11"/>
          <p:cNvSpPr/>
          <p:nvPr/>
        </p:nvSpPr>
        <p:spPr>
          <a:xfrm>
            <a:off x="640080" y="3291840"/>
            <a:ext cx="5181447" cy="2395727"/>
          </a:xfrm>
          <a:prstGeom prst="roundRect">
            <a:avLst>
              <a:gd name="adj" fmla="val 3816"/>
            </a:avLst>
          </a:prstGeom>
          <a:solidFill>
            <a:srgbClr val="F4F8FC"/>
          </a:solidFill>
          <a:ln w="12700">
            <a:solidFill>
              <a:srgbClr val="E3ECF6"/>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14400" y="3429000"/>
            <a:ext cx="4632807" cy="2121408"/>
          </a:xfrm>
          <a:prstGeom prst="rect">
            <a:avLst/>
          </a:prstGeom>
          <a:noFill/>
        </p:spPr>
        <p:txBody>
          <a:bodyPr wrap="square" lIns="45720" tIns="18288" rIns="45720" bIns="18288" anchor="ctr">
            <a:spAutoFit/>
          </a:bodyPr>
          <a:lstStyle/>
          <a:p>
            <a:pPr algn="l">
              <a:lnSpc>
                <a:spcPct val="145000"/>
              </a:lnSpc>
            </a:pPr>
            <a:r>
              <a:rPr sz="1200" b="0">
                <a:solidFill>
                  <a:srgbClr val="1E293B"/>
                </a:solidFill>
                <a:latin typeface="Noto Sans KR"/>
              </a:rPr>
              <a:t>·  대상 — 국가·공공기관 담당자 일반 사이버보안 교육 (기존)
·  최신화(2026) — 기존 과정에 AI 과목 접목
       정보보안업무 이해 · 취약점 진단 · 보안 관제 · 실태평가 등
·  재편 — 4개 분야 재조정: 정책 · 도입 · 예방 · 대응
·  확장 — 특별과정 (지부·군·검경·여성과학인·지역대학생)</a:t>
            </a:r>
          </a:p>
        </p:txBody>
      </p:sp>
      <p:sp>
        <p:nvSpPr>
          <p:cNvPr id="14" name="Rounded Rectangle 13"/>
          <p:cNvSpPr/>
          <p:nvPr/>
        </p:nvSpPr>
        <p:spPr>
          <a:xfrm>
            <a:off x="6370167" y="2724912"/>
            <a:ext cx="5181447" cy="512064"/>
          </a:xfrm>
          <a:prstGeom prst="roundRect">
            <a:avLst>
              <a:gd name="adj" fmla="val 15000"/>
            </a:avLst>
          </a:prstGeom>
          <a:solidFill>
            <a:srgbClr val="13AAE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370167" y="2724912"/>
            <a:ext cx="5181447" cy="512064"/>
          </a:xfrm>
          <a:prstGeom prst="rect">
            <a:avLst/>
          </a:prstGeom>
          <a:noFill/>
        </p:spPr>
        <p:txBody>
          <a:bodyPr wrap="square" lIns="45720" tIns="18288" rIns="45720" bIns="18288" anchor="ctr">
            <a:spAutoFit/>
          </a:bodyPr>
          <a:lstStyle/>
          <a:p>
            <a:pPr algn="ctr"/>
            <a:r>
              <a:rPr sz="1500" b="1">
                <a:solidFill>
                  <a:srgbClr val="FFFFFF"/>
                </a:solidFill>
                <a:latin typeface="Noto Sans KR"/>
              </a:rPr>
              <a:t>[분야 2]  AI보안 교육</a:t>
            </a:r>
          </a:p>
        </p:txBody>
      </p:sp>
      <p:sp>
        <p:nvSpPr>
          <p:cNvPr id="16" name="Rounded Rectangle 15"/>
          <p:cNvSpPr/>
          <p:nvPr/>
        </p:nvSpPr>
        <p:spPr>
          <a:xfrm>
            <a:off x="6370167" y="3291840"/>
            <a:ext cx="5181447" cy="2395727"/>
          </a:xfrm>
          <a:prstGeom prst="roundRect">
            <a:avLst>
              <a:gd name="adj" fmla="val 3816"/>
            </a:avLst>
          </a:prstGeom>
          <a:solidFill>
            <a:srgbClr val="F4F8FC"/>
          </a:solidFill>
          <a:ln w="12700">
            <a:solidFill>
              <a:srgbClr val="E3ECF6"/>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644487" y="3429000"/>
            <a:ext cx="4632807" cy="2121408"/>
          </a:xfrm>
          <a:prstGeom prst="rect">
            <a:avLst/>
          </a:prstGeom>
          <a:noFill/>
        </p:spPr>
        <p:txBody>
          <a:bodyPr wrap="square" lIns="45720" tIns="18288" rIns="45720" bIns="18288" anchor="ctr">
            <a:spAutoFit/>
          </a:bodyPr>
          <a:lstStyle/>
          <a:p>
            <a:pPr algn="l">
              <a:lnSpc>
                <a:spcPct val="145000"/>
              </a:lnSpc>
            </a:pPr>
            <a:r>
              <a:rPr sz="1200" b="0">
                <a:solidFill>
                  <a:srgbClr val="1E293B"/>
                </a:solidFill>
                <a:latin typeface="Noto Sans KR"/>
              </a:rPr>
              <a:t>·  구성 — AI 3분야 × 레벨(초급 · 중급 · 고급)
       ①  AI 기초 활용 (AI Literacy)
       ②  AI 구축·활용 (AI for Security)
       ③  AI 보안 (Security for AI)
·  목표 — Agentic 공격(Agentic Attack) 대응 역량 확보</a:t>
            </a:r>
          </a:p>
        </p:txBody>
      </p:sp>
      <p:sp>
        <p:nvSpPr>
          <p:cNvPr id="18" name="Rounded Rectangle 17"/>
          <p:cNvSpPr/>
          <p:nvPr/>
        </p:nvSpPr>
        <p:spPr>
          <a:xfrm>
            <a:off x="640080" y="5870448"/>
            <a:ext cx="10911535" cy="512064"/>
          </a:xfrm>
          <a:prstGeom prst="roundRect">
            <a:avLst>
              <a:gd name="adj" fmla="val 15000"/>
            </a:avLst>
          </a:prstGeom>
          <a:solidFill>
            <a:srgbClr val="0E5AA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640080" y="5870448"/>
            <a:ext cx="109728" cy="512064"/>
          </a:xfrm>
          <a:prstGeom prst="rect">
            <a:avLst/>
          </a:prstGeom>
          <a:solidFill>
            <a:srgbClr val="1E7ED4"/>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50976" y="5870448"/>
            <a:ext cx="10454335" cy="512064"/>
          </a:xfrm>
          <a:prstGeom prst="rect">
            <a:avLst/>
          </a:prstGeom>
          <a:noFill/>
        </p:spPr>
        <p:txBody>
          <a:bodyPr wrap="square" lIns="45720" tIns="18288" rIns="45720" bIns="18288" anchor="ctr">
            <a:spAutoFit/>
          </a:bodyPr>
          <a:lstStyle/>
          <a:p>
            <a:pPr algn="ctr"/>
            <a:r>
              <a:rPr sz="1500" b="1">
                <a:solidFill>
                  <a:srgbClr val="FFFFFF"/>
                </a:solidFill>
                <a:latin typeface="Noto Sans KR"/>
              </a:rPr>
              <a:t>기존 보안 최신화  +  AI보안 신설  =  2개 분야 병행 체계</a:t>
            </a:r>
          </a:p>
        </p:txBody>
      </p:sp>
      <p:sp>
        <p:nvSpPr>
          <p:cNvPr id="21" name="TextBox 20"/>
          <p:cNvSpPr txBox="1"/>
          <p:nvPr/>
        </p:nvSpPr>
        <p:spPr>
          <a:xfrm>
            <a:off x="11734495" y="6492240"/>
            <a:ext cx="365760" cy="228600"/>
          </a:xfrm>
          <a:prstGeom prst="rect">
            <a:avLst/>
          </a:prstGeom>
          <a:noFill/>
        </p:spPr>
        <p:txBody>
          <a:bodyPr wrap="square" lIns="45720" tIns="18288" rIns="45720" bIns="18288" anchor="t">
            <a:spAutoFit/>
          </a:bodyPr>
          <a:lstStyle/>
          <a:p>
            <a:pPr algn="r"/>
            <a:r>
              <a:rPr sz="900" b="0">
                <a:solidFill>
                  <a:srgbClr val="94A3B8"/>
                </a:solidFill>
                <a:latin typeface="Noto Sans KR"/>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658368" y="512064"/>
            <a:ext cx="10893247" cy="731520"/>
          </a:xfrm>
          <a:prstGeom prst="rect">
            <a:avLst/>
          </a:prstGeom>
          <a:noFill/>
        </p:spPr>
        <p:txBody>
          <a:bodyPr wrap="square" lIns="45720" tIns="18288" rIns="45720" bIns="18288" anchor="t">
            <a:spAutoFit/>
          </a:bodyPr>
          <a:lstStyle/>
          <a:p>
            <a:pPr algn="l"/>
            <a:r>
              <a:rPr sz="2700" b="1">
                <a:solidFill>
                  <a:srgbClr val="1B2330"/>
                </a:solidFill>
                <a:latin typeface="Noto Sans KR"/>
              </a:rPr>
              <a:t>AI보안 교육 과정 로드맵 (레벨별)</a:t>
            </a:r>
          </a:p>
        </p:txBody>
      </p:sp>
      <p:sp>
        <p:nvSpPr>
          <p:cNvPr id="3" name="TextBox 2"/>
          <p:cNvSpPr txBox="1"/>
          <p:nvPr/>
        </p:nvSpPr>
        <p:spPr>
          <a:xfrm>
            <a:off x="676656" y="1188720"/>
            <a:ext cx="10820095" cy="365760"/>
          </a:xfrm>
          <a:prstGeom prst="rect">
            <a:avLst/>
          </a:prstGeom>
          <a:noFill/>
        </p:spPr>
        <p:txBody>
          <a:bodyPr wrap="square" lIns="45720" tIns="18288" rIns="45720" bIns="18288" anchor="t">
            <a:spAutoFit/>
          </a:bodyPr>
          <a:lstStyle/>
          <a:p>
            <a:pPr algn="l"/>
            <a:r>
              <a:rPr sz="1300" b="0">
                <a:solidFill>
                  <a:srgbClr val="5B6470"/>
                </a:solidFill>
                <a:latin typeface="Noto Sans KR"/>
              </a:rPr>
              <a:t>초급 → 중급 → 고급 · 3개 레벨 7개 과정</a:t>
            </a:r>
          </a:p>
        </p:txBody>
      </p:sp>
      <p:sp>
        <p:nvSpPr>
          <p:cNvPr id="4" name="Rounded Rectangle 3"/>
          <p:cNvSpPr/>
          <p:nvPr/>
        </p:nvSpPr>
        <p:spPr>
          <a:xfrm>
            <a:off x="457200" y="1481328"/>
            <a:ext cx="3551834" cy="841248"/>
          </a:xfrm>
          <a:prstGeom prst="roundRect">
            <a:avLst>
              <a:gd name="adj" fmla="val 13043"/>
            </a:avLst>
          </a:prstGeom>
          <a:solidFill>
            <a:srgbClr val="1C75C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66928" y="1572768"/>
            <a:ext cx="3332378" cy="457200"/>
          </a:xfrm>
          <a:prstGeom prst="rect">
            <a:avLst/>
          </a:prstGeom>
          <a:noFill/>
        </p:spPr>
        <p:txBody>
          <a:bodyPr wrap="square" lIns="45720" tIns="18288" rIns="45720" bIns="18288" anchor="ctr">
            <a:spAutoFit/>
          </a:bodyPr>
          <a:lstStyle/>
          <a:p>
            <a:pPr algn="ctr">
              <a:lnSpc>
                <a:spcPct val="110000"/>
              </a:lnSpc>
            </a:pPr>
            <a:r>
              <a:rPr sz="1400" b="1">
                <a:solidFill>
                  <a:srgbClr val="FFFFFF"/>
                </a:solidFill>
                <a:latin typeface="Noto Sans KR"/>
              </a:rPr>
              <a:t>AI 보안 기초 및 안전한 활용</a:t>
            </a:r>
          </a:p>
        </p:txBody>
      </p:sp>
      <p:sp>
        <p:nvSpPr>
          <p:cNvPr id="6" name="TextBox 5"/>
          <p:cNvSpPr txBox="1"/>
          <p:nvPr/>
        </p:nvSpPr>
        <p:spPr>
          <a:xfrm>
            <a:off x="566928" y="2011680"/>
            <a:ext cx="3332378" cy="237744"/>
          </a:xfrm>
          <a:prstGeom prst="rect">
            <a:avLst/>
          </a:prstGeom>
          <a:noFill/>
        </p:spPr>
        <p:txBody>
          <a:bodyPr wrap="square" lIns="45720" tIns="18288" rIns="45720" bIns="18288" anchor="ctr">
            <a:spAutoFit/>
          </a:bodyPr>
          <a:lstStyle/>
          <a:p>
            <a:pPr algn="ctr"/>
            <a:r>
              <a:rPr sz="1050" b="1">
                <a:solidFill>
                  <a:srgbClr val="FFFFFF"/>
                </a:solidFill>
                <a:latin typeface="Noto Sans KR"/>
              </a:rPr>
              <a:t>초급 (Beginner)</a:t>
            </a:r>
          </a:p>
        </p:txBody>
      </p:sp>
      <p:sp>
        <p:nvSpPr>
          <p:cNvPr id="7" name="Rounded Rectangle 6"/>
          <p:cNvSpPr/>
          <p:nvPr/>
        </p:nvSpPr>
        <p:spPr>
          <a:xfrm>
            <a:off x="457200" y="2468880"/>
            <a:ext cx="3551834" cy="1947672"/>
          </a:xfrm>
          <a:prstGeom prst="roundRect">
            <a:avLst>
              <a:gd name="adj" fmla="val 3755"/>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457200" y="2560320"/>
            <a:ext cx="64008" cy="1764792"/>
          </a:xfrm>
          <a:prstGeom prst="rect">
            <a:avLst/>
          </a:prstGeom>
          <a:solidFill>
            <a:srgbClr val="1C75C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94944" y="2560320"/>
            <a:ext cx="3167786" cy="237744"/>
          </a:xfrm>
          <a:prstGeom prst="rect">
            <a:avLst/>
          </a:prstGeom>
          <a:noFill/>
        </p:spPr>
        <p:txBody>
          <a:bodyPr wrap="square" lIns="45720" tIns="18288" rIns="45720" bIns="18288" anchor="t">
            <a:spAutoFit/>
          </a:bodyPr>
          <a:lstStyle/>
          <a:p>
            <a:pPr algn="l"/>
            <a:r>
              <a:rPr sz="1200" b="1">
                <a:solidFill>
                  <a:srgbClr val="1C75C9"/>
                </a:solidFill>
                <a:latin typeface="Noto Sans KR"/>
              </a:rPr>
              <a:t>1과정</a:t>
            </a:r>
          </a:p>
        </p:txBody>
      </p:sp>
      <p:sp>
        <p:nvSpPr>
          <p:cNvPr id="10" name="TextBox 9"/>
          <p:cNvSpPr txBox="1"/>
          <p:nvPr/>
        </p:nvSpPr>
        <p:spPr>
          <a:xfrm>
            <a:off x="694944" y="2816352"/>
            <a:ext cx="3167786" cy="428487"/>
          </a:xfrm>
          <a:prstGeom prst="rect">
            <a:avLst/>
          </a:prstGeom>
          <a:noFill/>
        </p:spPr>
        <p:txBody>
          <a:bodyPr wrap="square" lIns="45720" tIns="18288" rIns="45720" bIns="18288" anchor="t">
            <a:spAutoFit/>
          </a:bodyPr>
          <a:lstStyle/>
          <a:p>
            <a:pPr algn="l">
              <a:lnSpc>
                <a:spcPct val="112000"/>
              </a:lnSpc>
            </a:pPr>
            <a:r>
              <a:rPr sz="1300" b="1">
                <a:solidFill>
                  <a:srgbClr val="1E293B"/>
                </a:solidFill>
                <a:latin typeface="Noto Sans KR"/>
              </a:rPr>
              <a:t>AI 보안의 이해</a:t>
            </a:r>
          </a:p>
        </p:txBody>
      </p:sp>
      <p:sp>
        <p:nvSpPr>
          <p:cNvPr id="11" name="TextBox 10"/>
          <p:cNvSpPr txBox="1"/>
          <p:nvPr/>
        </p:nvSpPr>
        <p:spPr>
          <a:xfrm>
            <a:off x="694944" y="3290559"/>
            <a:ext cx="3167786" cy="1016264"/>
          </a:xfrm>
          <a:prstGeom prst="rect">
            <a:avLst/>
          </a:prstGeom>
          <a:noFill/>
        </p:spPr>
        <p:txBody>
          <a:bodyPr wrap="square" lIns="45720" tIns="18288" rIns="45720" bIns="18288" anchor="t">
            <a:spAutoFit/>
          </a:bodyPr>
          <a:lstStyle/>
          <a:p>
            <a:pPr algn="l">
              <a:lnSpc>
                <a:spcPct val="130000"/>
              </a:lnSpc>
            </a:pPr>
            <a:r>
              <a:rPr sz="1200" b="0">
                <a:solidFill>
                  <a:srgbClr val="475569"/>
                </a:solidFill>
                <a:latin typeface="Noto Sans KR"/>
              </a:rPr>
              <a:t>·  AI 기본 원리 및 위협 모델링
·  프롬프트 인젝션 위협 요소 분석</a:t>
            </a:r>
          </a:p>
        </p:txBody>
      </p:sp>
      <p:sp>
        <p:nvSpPr>
          <p:cNvPr id="12" name="Rounded Rectangle 11"/>
          <p:cNvSpPr/>
          <p:nvPr/>
        </p:nvSpPr>
        <p:spPr>
          <a:xfrm>
            <a:off x="457200" y="4562856"/>
            <a:ext cx="3551834" cy="1947672"/>
          </a:xfrm>
          <a:prstGeom prst="roundRect">
            <a:avLst>
              <a:gd name="adj" fmla="val 3755"/>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457200" y="4654296"/>
            <a:ext cx="64008" cy="1764792"/>
          </a:xfrm>
          <a:prstGeom prst="rect">
            <a:avLst/>
          </a:prstGeom>
          <a:solidFill>
            <a:srgbClr val="1C75C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94944" y="4654296"/>
            <a:ext cx="3167786" cy="237744"/>
          </a:xfrm>
          <a:prstGeom prst="rect">
            <a:avLst/>
          </a:prstGeom>
          <a:noFill/>
        </p:spPr>
        <p:txBody>
          <a:bodyPr wrap="square" lIns="45720" tIns="18288" rIns="45720" bIns="18288" anchor="t">
            <a:spAutoFit/>
          </a:bodyPr>
          <a:lstStyle/>
          <a:p>
            <a:pPr algn="l"/>
            <a:r>
              <a:rPr sz="1200" b="1">
                <a:solidFill>
                  <a:srgbClr val="1C75C9"/>
                </a:solidFill>
                <a:latin typeface="Noto Sans KR"/>
              </a:rPr>
              <a:t>2과정</a:t>
            </a:r>
          </a:p>
        </p:txBody>
      </p:sp>
      <p:sp>
        <p:nvSpPr>
          <p:cNvPr id="15" name="TextBox 14"/>
          <p:cNvSpPr txBox="1"/>
          <p:nvPr/>
        </p:nvSpPr>
        <p:spPr>
          <a:xfrm>
            <a:off x="694944" y="4910328"/>
            <a:ext cx="3167786" cy="428487"/>
          </a:xfrm>
          <a:prstGeom prst="rect">
            <a:avLst/>
          </a:prstGeom>
          <a:noFill/>
        </p:spPr>
        <p:txBody>
          <a:bodyPr wrap="square" lIns="45720" tIns="18288" rIns="45720" bIns="18288" anchor="t">
            <a:spAutoFit/>
          </a:bodyPr>
          <a:lstStyle/>
          <a:p>
            <a:pPr algn="l">
              <a:lnSpc>
                <a:spcPct val="112000"/>
              </a:lnSpc>
            </a:pPr>
            <a:r>
              <a:rPr sz="1300" b="1">
                <a:solidFill>
                  <a:srgbClr val="1E293B"/>
                </a:solidFill>
                <a:latin typeface="Noto Sans KR"/>
              </a:rPr>
              <a:t>AI 보안 업무 자동화 및 활용</a:t>
            </a:r>
          </a:p>
        </p:txBody>
      </p:sp>
      <p:sp>
        <p:nvSpPr>
          <p:cNvPr id="16" name="TextBox 15"/>
          <p:cNvSpPr txBox="1"/>
          <p:nvPr/>
        </p:nvSpPr>
        <p:spPr>
          <a:xfrm>
            <a:off x="694944" y="5384535"/>
            <a:ext cx="3167786" cy="1016264"/>
          </a:xfrm>
          <a:prstGeom prst="rect">
            <a:avLst/>
          </a:prstGeom>
          <a:noFill/>
        </p:spPr>
        <p:txBody>
          <a:bodyPr wrap="square" lIns="45720" tIns="18288" rIns="45720" bIns="18288" anchor="t">
            <a:spAutoFit/>
          </a:bodyPr>
          <a:lstStyle/>
          <a:p>
            <a:pPr algn="l">
              <a:lnSpc>
                <a:spcPct val="130000"/>
              </a:lnSpc>
            </a:pPr>
            <a:r>
              <a:rPr sz="1200" b="0">
                <a:solidFill>
                  <a:srgbClr val="475569"/>
                </a:solidFill>
                <a:latin typeface="Noto Sans KR"/>
              </a:rPr>
              <a:t>·  생성형 AI 기반 보안업무 자동화 기초
·  민감 정보 유출 방지 및 안전한 개발환경 구축</a:t>
            </a:r>
          </a:p>
        </p:txBody>
      </p:sp>
      <p:sp>
        <p:nvSpPr>
          <p:cNvPr id="17" name="Rounded Rectangle 16"/>
          <p:cNvSpPr/>
          <p:nvPr/>
        </p:nvSpPr>
        <p:spPr>
          <a:xfrm>
            <a:off x="4319930" y="1481328"/>
            <a:ext cx="3551834" cy="841248"/>
          </a:xfrm>
          <a:prstGeom prst="roundRect">
            <a:avLst>
              <a:gd name="adj" fmla="val 13043"/>
            </a:avLst>
          </a:prstGeom>
          <a:solidFill>
            <a:srgbClr val="13AAE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429658" y="1572768"/>
            <a:ext cx="3332378" cy="457200"/>
          </a:xfrm>
          <a:prstGeom prst="rect">
            <a:avLst/>
          </a:prstGeom>
          <a:noFill/>
        </p:spPr>
        <p:txBody>
          <a:bodyPr wrap="square" lIns="45720" tIns="18288" rIns="45720" bIns="18288" anchor="ctr">
            <a:spAutoFit/>
          </a:bodyPr>
          <a:lstStyle/>
          <a:p>
            <a:pPr algn="ctr">
              <a:lnSpc>
                <a:spcPct val="110000"/>
              </a:lnSpc>
            </a:pPr>
            <a:r>
              <a:rPr sz="1400" b="1">
                <a:solidFill>
                  <a:srgbClr val="FFFFFF"/>
                </a:solidFill>
                <a:latin typeface="Noto Sans KR"/>
              </a:rPr>
              <a:t>AI 인프라 구축 및 지능형 보안</a:t>
            </a:r>
          </a:p>
        </p:txBody>
      </p:sp>
      <p:sp>
        <p:nvSpPr>
          <p:cNvPr id="19" name="TextBox 18"/>
          <p:cNvSpPr txBox="1"/>
          <p:nvPr/>
        </p:nvSpPr>
        <p:spPr>
          <a:xfrm>
            <a:off x="4429658" y="2011680"/>
            <a:ext cx="3332378" cy="237744"/>
          </a:xfrm>
          <a:prstGeom prst="rect">
            <a:avLst/>
          </a:prstGeom>
          <a:noFill/>
        </p:spPr>
        <p:txBody>
          <a:bodyPr wrap="square" lIns="45720" tIns="18288" rIns="45720" bIns="18288" anchor="ctr">
            <a:spAutoFit/>
          </a:bodyPr>
          <a:lstStyle/>
          <a:p>
            <a:pPr algn="ctr"/>
            <a:r>
              <a:rPr sz="1050" b="1">
                <a:solidFill>
                  <a:srgbClr val="FFFFFF"/>
                </a:solidFill>
                <a:latin typeface="Noto Sans KR"/>
              </a:rPr>
              <a:t>중급 (Intermediate)</a:t>
            </a:r>
          </a:p>
        </p:txBody>
      </p:sp>
      <p:sp>
        <p:nvSpPr>
          <p:cNvPr id="20" name="Rounded Rectangle 19"/>
          <p:cNvSpPr/>
          <p:nvPr/>
        </p:nvSpPr>
        <p:spPr>
          <a:xfrm>
            <a:off x="4319930" y="2468880"/>
            <a:ext cx="3551834" cy="1249679"/>
          </a:xfrm>
          <a:prstGeom prst="roundRect">
            <a:avLst>
              <a:gd name="adj" fmla="val 5853"/>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4319930" y="2560320"/>
            <a:ext cx="64008" cy="1066799"/>
          </a:xfrm>
          <a:prstGeom prst="rect">
            <a:avLst/>
          </a:prstGeom>
          <a:solidFill>
            <a:srgbClr val="13AAE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557674" y="2560320"/>
            <a:ext cx="3167786" cy="237744"/>
          </a:xfrm>
          <a:prstGeom prst="rect">
            <a:avLst/>
          </a:prstGeom>
          <a:noFill/>
        </p:spPr>
        <p:txBody>
          <a:bodyPr wrap="square" lIns="45720" tIns="18288" rIns="45720" bIns="18288" anchor="t">
            <a:spAutoFit/>
          </a:bodyPr>
          <a:lstStyle/>
          <a:p>
            <a:pPr algn="l"/>
            <a:r>
              <a:rPr sz="1200" b="1">
                <a:solidFill>
                  <a:srgbClr val="13AAED"/>
                </a:solidFill>
                <a:latin typeface="Noto Sans KR"/>
              </a:rPr>
              <a:t>3과정</a:t>
            </a:r>
          </a:p>
        </p:txBody>
      </p:sp>
      <p:sp>
        <p:nvSpPr>
          <p:cNvPr id="23" name="TextBox 22"/>
          <p:cNvSpPr txBox="1"/>
          <p:nvPr/>
        </p:nvSpPr>
        <p:spPr>
          <a:xfrm>
            <a:off x="4557674" y="2816352"/>
            <a:ext cx="3167786" cy="274929"/>
          </a:xfrm>
          <a:prstGeom prst="rect">
            <a:avLst/>
          </a:prstGeom>
          <a:noFill/>
        </p:spPr>
        <p:txBody>
          <a:bodyPr wrap="square" lIns="45720" tIns="18288" rIns="45720" bIns="18288" anchor="t">
            <a:spAutoFit/>
          </a:bodyPr>
          <a:lstStyle/>
          <a:p>
            <a:pPr algn="l">
              <a:lnSpc>
                <a:spcPct val="112000"/>
              </a:lnSpc>
            </a:pPr>
            <a:r>
              <a:rPr sz="1200" b="1">
                <a:solidFill>
                  <a:srgbClr val="1E293B"/>
                </a:solidFill>
                <a:latin typeface="Noto Sans KR"/>
              </a:rPr>
              <a:t>안전한 로컬 LLM 구축</a:t>
            </a:r>
          </a:p>
        </p:txBody>
      </p:sp>
      <p:sp>
        <p:nvSpPr>
          <p:cNvPr id="24" name="TextBox 23"/>
          <p:cNvSpPr txBox="1"/>
          <p:nvPr/>
        </p:nvSpPr>
        <p:spPr>
          <a:xfrm>
            <a:off x="4557674" y="3137001"/>
            <a:ext cx="3167786" cy="471830"/>
          </a:xfrm>
          <a:prstGeom prst="rect">
            <a:avLst/>
          </a:prstGeom>
          <a:noFill/>
        </p:spPr>
        <p:txBody>
          <a:bodyPr wrap="square" lIns="45720" tIns="18288" rIns="45720" bIns="18288" anchor="t">
            <a:spAutoFit/>
          </a:bodyPr>
          <a:lstStyle/>
          <a:p>
            <a:pPr algn="l">
              <a:lnSpc>
                <a:spcPct val="130000"/>
              </a:lnSpc>
            </a:pPr>
            <a:r>
              <a:rPr sz="1000" b="0">
                <a:solidFill>
                  <a:srgbClr val="475569"/>
                </a:solidFill>
                <a:latin typeface="Noto Sans KR"/>
              </a:rPr>
              <a:t>·  온프레미스 sLLM 독립망 구축
·  RAG 파이프라인 연계 및 파인튜닝</a:t>
            </a:r>
          </a:p>
        </p:txBody>
      </p:sp>
      <p:sp>
        <p:nvSpPr>
          <p:cNvPr id="25" name="Rounded Rectangle 24"/>
          <p:cNvSpPr/>
          <p:nvPr/>
        </p:nvSpPr>
        <p:spPr>
          <a:xfrm>
            <a:off x="4319930" y="3864864"/>
            <a:ext cx="3551834" cy="1249679"/>
          </a:xfrm>
          <a:prstGeom prst="roundRect">
            <a:avLst>
              <a:gd name="adj" fmla="val 5853"/>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4319930" y="3956303"/>
            <a:ext cx="64008" cy="1066799"/>
          </a:xfrm>
          <a:prstGeom prst="rect">
            <a:avLst/>
          </a:prstGeom>
          <a:solidFill>
            <a:srgbClr val="13AAE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4557674" y="3956303"/>
            <a:ext cx="3167786" cy="237744"/>
          </a:xfrm>
          <a:prstGeom prst="rect">
            <a:avLst/>
          </a:prstGeom>
          <a:noFill/>
        </p:spPr>
        <p:txBody>
          <a:bodyPr wrap="square" lIns="45720" tIns="18288" rIns="45720" bIns="18288" anchor="t">
            <a:spAutoFit/>
          </a:bodyPr>
          <a:lstStyle/>
          <a:p>
            <a:pPr algn="l"/>
            <a:r>
              <a:rPr sz="1200" b="1">
                <a:solidFill>
                  <a:srgbClr val="13AAED"/>
                </a:solidFill>
                <a:latin typeface="Noto Sans KR"/>
              </a:rPr>
              <a:t>4과정</a:t>
            </a:r>
          </a:p>
        </p:txBody>
      </p:sp>
      <p:sp>
        <p:nvSpPr>
          <p:cNvPr id="28" name="TextBox 27"/>
          <p:cNvSpPr txBox="1"/>
          <p:nvPr/>
        </p:nvSpPr>
        <p:spPr>
          <a:xfrm>
            <a:off x="4557674" y="4212336"/>
            <a:ext cx="3167786" cy="274929"/>
          </a:xfrm>
          <a:prstGeom prst="rect">
            <a:avLst/>
          </a:prstGeom>
          <a:noFill/>
        </p:spPr>
        <p:txBody>
          <a:bodyPr wrap="square" lIns="45720" tIns="18288" rIns="45720" bIns="18288" anchor="t">
            <a:spAutoFit/>
          </a:bodyPr>
          <a:lstStyle/>
          <a:p>
            <a:pPr algn="l">
              <a:lnSpc>
                <a:spcPct val="112000"/>
              </a:lnSpc>
            </a:pPr>
            <a:r>
              <a:rPr sz="1200" b="1">
                <a:solidFill>
                  <a:srgbClr val="1E293B"/>
                </a:solidFill>
                <a:latin typeface="Noto Sans KR"/>
              </a:rPr>
              <a:t>로컬 LLM 활용 사이버 보안</a:t>
            </a:r>
          </a:p>
        </p:txBody>
      </p:sp>
      <p:sp>
        <p:nvSpPr>
          <p:cNvPr id="29" name="TextBox 28"/>
          <p:cNvSpPr txBox="1"/>
          <p:nvPr/>
        </p:nvSpPr>
        <p:spPr>
          <a:xfrm>
            <a:off x="4557674" y="4532985"/>
            <a:ext cx="3167786" cy="471830"/>
          </a:xfrm>
          <a:prstGeom prst="rect">
            <a:avLst/>
          </a:prstGeom>
          <a:noFill/>
        </p:spPr>
        <p:txBody>
          <a:bodyPr wrap="square" lIns="45720" tIns="18288" rIns="45720" bIns="18288" anchor="t">
            <a:spAutoFit/>
          </a:bodyPr>
          <a:lstStyle/>
          <a:p>
            <a:pPr algn="l">
              <a:lnSpc>
                <a:spcPct val="130000"/>
              </a:lnSpc>
            </a:pPr>
            <a:r>
              <a:rPr sz="1000" b="0">
                <a:solidFill>
                  <a:srgbClr val="475569"/>
                </a:solidFill>
                <a:latin typeface="Noto Sans KR"/>
              </a:rPr>
              <a:t>·  ML 기반 악성코드 및 변칙 분석
·  SOAR/CTI 연계 통합 관제</a:t>
            </a:r>
          </a:p>
        </p:txBody>
      </p:sp>
      <p:sp>
        <p:nvSpPr>
          <p:cNvPr id="30" name="Rounded Rectangle 29"/>
          <p:cNvSpPr/>
          <p:nvPr/>
        </p:nvSpPr>
        <p:spPr>
          <a:xfrm>
            <a:off x="4319930" y="5260848"/>
            <a:ext cx="3551834" cy="1249679"/>
          </a:xfrm>
          <a:prstGeom prst="roundRect">
            <a:avLst>
              <a:gd name="adj" fmla="val 5853"/>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4319930" y="5352287"/>
            <a:ext cx="64008" cy="1066799"/>
          </a:xfrm>
          <a:prstGeom prst="rect">
            <a:avLst/>
          </a:prstGeom>
          <a:solidFill>
            <a:srgbClr val="13AAE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4557674" y="5352287"/>
            <a:ext cx="3167786" cy="237744"/>
          </a:xfrm>
          <a:prstGeom prst="rect">
            <a:avLst/>
          </a:prstGeom>
          <a:noFill/>
        </p:spPr>
        <p:txBody>
          <a:bodyPr wrap="square" lIns="45720" tIns="18288" rIns="45720" bIns="18288" anchor="t">
            <a:spAutoFit/>
          </a:bodyPr>
          <a:lstStyle/>
          <a:p>
            <a:pPr algn="l"/>
            <a:r>
              <a:rPr sz="1200" b="1">
                <a:solidFill>
                  <a:srgbClr val="13AAED"/>
                </a:solidFill>
                <a:latin typeface="Noto Sans KR"/>
              </a:rPr>
              <a:t>5과정</a:t>
            </a:r>
          </a:p>
        </p:txBody>
      </p:sp>
      <p:sp>
        <p:nvSpPr>
          <p:cNvPr id="33" name="TextBox 32"/>
          <p:cNvSpPr txBox="1"/>
          <p:nvPr/>
        </p:nvSpPr>
        <p:spPr>
          <a:xfrm>
            <a:off x="4557674" y="5608320"/>
            <a:ext cx="3167786" cy="274929"/>
          </a:xfrm>
          <a:prstGeom prst="rect">
            <a:avLst/>
          </a:prstGeom>
          <a:noFill/>
        </p:spPr>
        <p:txBody>
          <a:bodyPr wrap="square" lIns="45720" tIns="18288" rIns="45720" bIns="18288" anchor="t">
            <a:spAutoFit/>
          </a:bodyPr>
          <a:lstStyle/>
          <a:p>
            <a:pPr algn="l">
              <a:lnSpc>
                <a:spcPct val="112000"/>
              </a:lnSpc>
            </a:pPr>
            <a:r>
              <a:rPr sz="1200" b="1">
                <a:solidFill>
                  <a:srgbClr val="1E293B"/>
                </a:solidFill>
                <a:latin typeface="Noto Sans KR"/>
              </a:rPr>
              <a:t>Agentic AI(Mythos) 공격 대응</a:t>
            </a:r>
          </a:p>
        </p:txBody>
      </p:sp>
      <p:sp>
        <p:nvSpPr>
          <p:cNvPr id="34" name="TextBox 33"/>
          <p:cNvSpPr txBox="1"/>
          <p:nvPr/>
        </p:nvSpPr>
        <p:spPr>
          <a:xfrm>
            <a:off x="4557674" y="5928969"/>
            <a:ext cx="3167786" cy="471830"/>
          </a:xfrm>
          <a:prstGeom prst="rect">
            <a:avLst/>
          </a:prstGeom>
          <a:noFill/>
        </p:spPr>
        <p:txBody>
          <a:bodyPr wrap="square" lIns="45720" tIns="18288" rIns="45720" bIns="18288" anchor="t">
            <a:spAutoFit/>
          </a:bodyPr>
          <a:lstStyle/>
          <a:p>
            <a:pPr algn="l">
              <a:lnSpc>
                <a:spcPct val="130000"/>
              </a:lnSpc>
            </a:pPr>
            <a:r>
              <a:rPr sz="900" b="0">
                <a:solidFill>
                  <a:srgbClr val="475569"/>
                </a:solidFill>
                <a:latin typeface="Noto Sans KR"/>
              </a:rPr>
              <a:t>·  미토스 쇼크 등 자율 해킹 분석
·  LLM 활용 취약점 탐지·지능형 제로트러스트 구현</a:t>
            </a:r>
          </a:p>
        </p:txBody>
      </p:sp>
      <p:sp>
        <p:nvSpPr>
          <p:cNvPr id="35" name="Rounded Rectangle 34"/>
          <p:cNvSpPr/>
          <p:nvPr/>
        </p:nvSpPr>
        <p:spPr>
          <a:xfrm>
            <a:off x="8182660" y="1481328"/>
            <a:ext cx="3551834" cy="841248"/>
          </a:xfrm>
          <a:prstGeom prst="roundRect">
            <a:avLst>
              <a:gd name="adj" fmla="val 13043"/>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8292388" y="1572768"/>
            <a:ext cx="3332378" cy="457200"/>
          </a:xfrm>
          <a:prstGeom prst="rect">
            <a:avLst/>
          </a:prstGeom>
          <a:noFill/>
        </p:spPr>
        <p:txBody>
          <a:bodyPr wrap="square" lIns="45720" tIns="18288" rIns="45720" bIns="18288" anchor="ctr">
            <a:spAutoFit/>
          </a:bodyPr>
          <a:lstStyle/>
          <a:p>
            <a:pPr algn="ctr">
              <a:lnSpc>
                <a:spcPct val="110000"/>
              </a:lnSpc>
            </a:pPr>
            <a:r>
              <a:rPr sz="1400" b="1">
                <a:solidFill>
                  <a:srgbClr val="FFFFFF"/>
                </a:solidFill>
                <a:latin typeface="Noto Sans KR"/>
              </a:rPr>
              <a:t>LLM 심층 방어 및 회복</a:t>
            </a:r>
          </a:p>
        </p:txBody>
      </p:sp>
      <p:sp>
        <p:nvSpPr>
          <p:cNvPr id="37" name="TextBox 36"/>
          <p:cNvSpPr txBox="1"/>
          <p:nvPr/>
        </p:nvSpPr>
        <p:spPr>
          <a:xfrm>
            <a:off x="8292388" y="2011680"/>
            <a:ext cx="3332378" cy="237744"/>
          </a:xfrm>
          <a:prstGeom prst="rect">
            <a:avLst/>
          </a:prstGeom>
          <a:noFill/>
        </p:spPr>
        <p:txBody>
          <a:bodyPr wrap="square" lIns="45720" tIns="18288" rIns="45720" bIns="18288" anchor="ctr">
            <a:spAutoFit/>
          </a:bodyPr>
          <a:lstStyle/>
          <a:p>
            <a:pPr algn="ctr"/>
            <a:r>
              <a:rPr sz="1050" b="1">
                <a:solidFill>
                  <a:srgbClr val="FFFFFF"/>
                </a:solidFill>
                <a:latin typeface="Noto Sans KR"/>
              </a:rPr>
              <a:t>고급 (Advanced)</a:t>
            </a:r>
          </a:p>
        </p:txBody>
      </p:sp>
      <p:sp>
        <p:nvSpPr>
          <p:cNvPr id="38" name="Rounded Rectangle 37"/>
          <p:cNvSpPr/>
          <p:nvPr/>
        </p:nvSpPr>
        <p:spPr>
          <a:xfrm>
            <a:off x="8182660" y="2468880"/>
            <a:ext cx="3551834" cy="1947672"/>
          </a:xfrm>
          <a:prstGeom prst="roundRect">
            <a:avLst>
              <a:gd name="adj" fmla="val 3755"/>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ectangle 38"/>
          <p:cNvSpPr/>
          <p:nvPr/>
        </p:nvSpPr>
        <p:spPr>
          <a:xfrm>
            <a:off x="8182660" y="2560320"/>
            <a:ext cx="64008" cy="176479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8420404" y="2560320"/>
            <a:ext cx="3167786" cy="237744"/>
          </a:xfrm>
          <a:prstGeom prst="rect">
            <a:avLst/>
          </a:prstGeom>
          <a:noFill/>
        </p:spPr>
        <p:txBody>
          <a:bodyPr wrap="square" lIns="45720" tIns="18288" rIns="45720" bIns="18288" anchor="t">
            <a:spAutoFit/>
          </a:bodyPr>
          <a:lstStyle/>
          <a:p>
            <a:pPr algn="l"/>
            <a:r>
              <a:rPr sz="1200" b="1">
                <a:solidFill>
                  <a:srgbClr val="059669"/>
                </a:solidFill>
                <a:latin typeface="Noto Sans KR"/>
              </a:rPr>
              <a:t>6과정</a:t>
            </a:r>
          </a:p>
        </p:txBody>
      </p:sp>
      <p:sp>
        <p:nvSpPr>
          <p:cNvPr id="41" name="TextBox 40"/>
          <p:cNvSpPr txBox="1"/>
          <p:nvPr/>
        </p:nvSpPr>
        <p:spPr>
          <a:xfrm>
            <a:off x="8420404" y="2816352"/>
            <a:ext cx="3167786" cy="428487"/>
          </a:xfrm>
          <a:prstGeom prst="rect">
            <a:avLst/>
          </a:prstGeom>
          <a:noFill/>
        </p:spPr>
        <p:txBody>
          <a:bodyPr wrap="square" lIns="45720" tIns="18288" rIns="45720" bIns="18288" anchor="t">
            <a:spAutoFit/>
          </a:bodyPr>
          <a:lstStyle/>
          <a:p>
            <a:pPr algn="l">
              <a:lnSpc>
                <a:spcPct val="112000"/>
              </a:lnSpc>
            </a:pPr>
            <a:r>
              <a:rPr sz="1300" b="1">
                <a:solidFill>
                  <a:srgbClr val="1E293B"/>
                </a:solidFill>
                <a:latin typeface="Noto Sans KR"/>
              </a:rPr>
              <a:t>LLM 취약점 진단 및 방어</a:t>
            </a:r>
          </a:p>
        </p:txBody>
      </p:sp>
      <p:sp>
        <p:nvSpPr>
          <p:cNvPr id="42" name="TextBox 41"/>
          <p:cNvSpPr txBox="1"/>
          <p:nvPr/>
        </p:nvSpPr>
        <p:spPr>
          <a:xfrm>
            <a:off x="8420404" y="3290559"/>
            <a:ext cx="3167786" cy="1016264"/>
          </a:xfrm>
          <a:prstGeom prst="rect">
            <a:avLst/>
          </a:prstGeom>
          <a:noFill/>
        </p:spPr>
        <p:txBody>
          <a:bodyPr wrap="square" lIns="45720" tIns="18288" rIns="45720" bIns="18288" anchor="t">
            <a:spAutoFit/>
          </a:bodyPr>
          <a:lstStyle/>
          <a:p>
            <a:pPr algn="l">
              <a:lnSpc>
                <a:spcPct val="130000"/>
              </a:lnSpc>
            </a:pPr>
            <a:r>
              <a:rPr sz="1200" b="0">
                <a:solidFill>
                  <a:srgbClr val="475569"/>
                </a:solidFill>
                <a:latin typeface="Noto Sans KR"/>
              </a:rPr>
              <a:t>·  OWASP Top 10 for LLM 레드티밍 (공격 진단)
·  입력값 필터링·가드레일 설치 (방어)</a:t>
            </a:r>
          </a:p>
        </p:txBody>
      </p:sp>
      <p:sp>
        <p:nvSpPr>
          <p:cNvPr id="43" name="Rounded Rectangle 42"/>
          <p:cNvSpPr/>
          <p:nvPr/>
        </p:nvSpPr>
        <p:spPr>
          <a:xfrm>
            <a:off x="8182660" y="4562856"/>
            <a:ext cx="3551834" cy="1947672"/>
          </a:xfrm>
          <a:prstGeom prst="roundRect">
            <a:avLst>
              <a:gd name="adj" fmla="val 3755"/>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Rectangle 43"/>
          <p:cNvSpPr/>
          <p:nvPr/>
        </p:nvSpPr>
        <p:spPr>
          <a:xfrm>
            <a:off x="8182660" y="4654296"/>
            <a:ext cx="64008" cy="176479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8420404" y="4654296"/>
            <a:ext cx="3167786" cy="237744"/>
          </a:xfrm>
          <a:prstGeom prst="rect">
            <a:avLst/>
          </a:prstGeom>
          <a:noFill/>
        </p:spPr>
        <p:txBody>
          <a:bodyPr wrap="square" lIns="45720" tIns="18288" rIns="45720" bIns="18288" anchor="t">
            <a:spAutoFit/>
          </a:bodyPr>
          <a:lstStyle/>
          <a:p>
            <a:pPr algn="l"/>
            <a:r>
              <a:rPr sz="1200" b="1">
                <a:solidFill>
                  <a:srgbClr val="059669"/>
                </a:solidFill>
                <a:latin typeface="Noto Sans KR"/>
              </a:rPr>
              <a:t>7과정</a:t>
            </a:r>
          </a:p>
        </p:txBody>
      </p:sp>
      <p:sp>
        <p:nvSpPr>
          <p:cNvPr id="46" name="TextBox 45"/>
          <p:cNvSpPr txBox="1"/>
          <p:nvPr/>
        </p:nvSpPr>
        <p:spPr>
          <a:xfrm>
            <a:off x="8420404" y="4910328"/>
            <a:ext cx="3167786" cy="428487"/>
          </a:xfrm>
          <a:prstGeom prst="rect">
            <a:avLst/>
          </a:prstGeom>
          <a:noFill/>
        </p:spPr>
        <p:txBody>
          <a:bodyPr wrap="square" lIns="45720" tIns="18288" rIns="45720" bIns="18288" anchor="t">
            <a:spAutoFit/>
          </a:bodyPr>
          <a:lstStyle/>
          <a:p>
            <a:pPr algn="l">
              <a:lnSpc>
                <a:spcPct val="112000"/>
              </a:lnSpc>
            </a:pPr>
            <a:r>
              <a:rPr sz="1300" b="1">
                <a:solidFill>
                  <a:srgbClr val="1E293B"/>
                </a:solidFill>
                <a:latin typeface="Noto Sans KR"/>
              </a:rPr>
              <a:t>AI 침해대응 및 복구</a:t>
            </a:r>
          </a:p>
        </p:txBody>
      </p:sp>
      <p:sp>
        <p:nvSpPr>
          <p:cNvPr id="47" name="TextBox 46"/>
          <p:cNvSpPr txBox="1"/>
          <p:nvPr/>
        </p:nvSpPr>
        <p:spPr>
          <a:xfrm>
            <a:off x="8420404" y="5384535"/>
            <a:ext cx="3167786" cy="1016264"/>
          </a:xfrm>
          <a:prstGeom prst="rect">
            <a:avLst/>
          </a:prstGeom>
          <a:noFill/>
        </p:spPr>
        <p:txBody>
          <a:bodyPr wrap="square" lIns="45720" tIns="18288" rIns="45720" bIns="18288" anchor="t">
            <a:spAutoFit/>
          </a:bodyPr>
          <a:lstStyle/>
          <a:p>
            <a:pPr algn="l">
              <a:lnSpc>
                <a:spcPct val="130000"/>
              </a:lnSpc>
            </a:pPr>
            <a:r>
              <a:rPr sz="1200" b="0">
                <a:solidFill>
                  <a:srgbClr val="475569"/>
                </a:solidFill>
                <a:latin typeface="Noto Sans KR"/>
              </a:rPr>
              <a:t>·  AI 변칙 로그 및 적대적 침해 탐지
·  모델 포렌식 및 회복 실습</a:t>
            </a:r>
          </a:p>
        </p:txBody>
      </p:sp>
      <p:sp>
        <p:nvSpPr>
          <p:cNvPr id="48" name="TextBox 47"/>
          <p:cNvSpPr txBox="1"/>
          <p:nvPr/>
        </p:nvSpPr>
        <p:spPr>
          <a:xfrm>
            <a:off x="11734495" y="6492240"/>
            <a:ext cx="365760" cy="228600"/>
          </a:xfrm>
          <a:prstGeom prst="rect">
            <a:avLst/>
          </a:prstGeom>
          <a:noFill/>
        </p:spPr>
        <p:txBody>
          <a:bodyPr wrap="square" lIns="45720" tIns="18288" rIns="45720" bIns="18288" anchor="t">
            <a:spAutoFit/>
          </a:bodyPr>
          <a:lstStyle/>
          <a:p>
            <a:pPr algn="r"/>
            <a:r>
              <a:rPr sz="900" b="0">
                <a:solidFill>
                  <a:srgbClr val="94A3B8"/>
                </a:solidFill>
                <a:latin typeface="Noto Sans KR"/>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658368" y="512064"/>
            <a:ext cx="10893247" cy="731520"/>
          </a:xfrm>
          <a:prstGeom prst="rect">
            <a:avLst/>
          </a:prstGeom>
          <a:noFill/>
        </p:spPr>
        <p:txBody>
          <a:bodyPr wrap="square" lIns="45720" tIns="18288" rIns="45720" bIns="18288" anchor="t">
            <a:spAutoFit/>
          </a:bodyPr>
          <a:lstStyle/>
          <a:p>
            <a:pPr algn="l"/>
            <a:r>
              <a:rPr sz="2700" b="1">
                <a:solidFill>
                  <a:srgbClr val="1B2330"/>
                </a:solidFill>
                <a:latin typeface="Noto Sans KR"/>
              </a:rPr>
              <a:t>AI보안 교육 과정 로드맵 (단계별 경로)</a:t>
            </a:r>
          </a:p>
        </p:txBody>
      </p:sp>
      <p:sp>
        <p:nvSpPr>
          <p:cNvPr id="3" name="TextBox 2"/>
          <p:cNvSpPr txBox="1"/>
          <p:nvPr/>
        </p:nvSpPr>
        <p:spPr>
          <a:xfrm>
            <a:off x="676656" y="1188720"/>
            <a:ext cx="10820095" cy="365760"/>
          </a:xfrm>
          <a:prstGeom prst="rect">
            <a:avLst/>
          </a:prstGeom>
          <a:noFill/>
        </p:spPr>
        <p:txBody>
          <a:bodyPr wrap="square" lIns="45720" tIns="18288" rIns="45720" bIns="18288" anchor="t">
            <a:spAutoFit/>
          </a:bodyPr>
          <a:lstStyle/>
          <a:p>
            <a:pPr algn="l"/>
            <a:r>
              <a:rPr sz="1300" b="0">
                <a:solidFill>
                  <a:srgbClr val="5B6470"/>
                </a:solidFill>
                <a:latin typeface="Noto Sans KR"/>
              </a:rPr>
              <a:t>초급 → 중급 → 고급 · 레벨 진행형 7개 과정</a:t>
            </a:r>
          </a:p>
        </p:txBody>
      </p:sp>
      <p:sp>
        <p:nvSpPr>
          <p:cNvPr id="4" name="Rounded Rectangle 3"/>
          <p:cNvSpPr/>
          <p:nvPr/>
        </p:nvSpPr>
        <p:spPr>
          <a:xfrm>
            <a:off x="457200" y="1444752"/>
            <a:ext cx="2331720" cy="1554480"/>
          </a:xfrm>
          <a:prstGeom prst="roundRect">
            <a:avLst>
              <a:gd name="adj" fmla="val 5882"/>
            </a:avLst>
          </a:prstGeom>
          <a:solidFill>
            <a:srgbClr val="1C75C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40080" y="1609344"/>
            <a:ext cx="1965960" cy="420624"/>
          </a:xfrm>
          <a:prstGeom prst="rect">
            <a:avLst/>
          </a:prstGeom>
          <a:noFill/>
        </p:spPr>
        <p:txBody>
          <a:bodyPr wrap="square" lIns="45720" tIns="18288" rIns="45720" bIns="18288" anchor="t">
            <a:spAutoFit/>
          </a:bodyPr>
          <a:lstStyle/>
          <a:p>
            <a:pPr algn="l"/>
            <a:r>
              <a:rPr sz="1500" b="1">
                <a:solidFill>
                  <a:srgbClr val="FFFFFF"/>
                </a:solidFill>
                <a:latin typeface="Noto Sans KR"/>
              </a:rPr>
              <a:t>초급 (Beginner)</a:t>
            </a:r>
          </a:p>
        </p:txBody>
      </p:sp>
      <p:sp>
        <p:nvSpPr>
          <p:cNvPr id="6" name="TextBox 5"/>
          <p:cNvSpPr txBox="1"/>
          <p:nvPr/>
        </p:nvSpPr>
        <p:spPr>
          <a:xfrm>
            <a:off x="640080" y="2103120"/>
            <a:ext cx="1965960" cy="749808"/>
          </a:xfrm>
          <a:prstGeom prst="rect">
            <a:avLst/>
          </a:prstGeom>
          <a:noFill/>
        </p:spPr>
        <p:txBody>
          <a:bodyPr wrap="square" lIns="45720" tIns="18288" rIns="45720" bIns="18288" anchor="t">
            <a:spAutoFit/>
          </a:bodyPr>
          <a:lstStyle/>
          <a:p>
            <a:pPr algn="l">
              <a:lnSpc>
                <a:spcPct val="118000"/>
              </a:lnSpc>
            </a:pPr>
            <a:r>
              <a:rPr sz="1250" b="1">
                <a:solidFill>
                  <a:srgbClr val="FFFFFF"/>
                </a:solidFill>
                <a:latin typeface="Noto Sans KR"/>
              </a:rPr>
              <a:t>AI 보안 기초 및 안전한 활용</a:t>
            </a:r>
          </a:p>
        </p:txBody>
      </p:sp>
      <p:sp>
        <p:nvSpPr>
          <p:cNvPr id="7" name="Rounded Rectangle 6"/>
          <p:cNvSpPr/>
          <p:nvPr/>
        </p:nvSpPr>
        <p:spPr>
          <a:xfrm>
            <a:off x="3008376" y="1444752"/>
            <a:ext cx="4280763" cy="1554480"/>
          </a:xfrm>
          <a:prstGeom prst="roundRect">
            <a:avLst>
              <a:gd name="adj" fmla="val 4705"/>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3008376" y="1536192"/>
            <a:ext cx="64008" cy="1371600"/>
          </a:xfrm>
          <a:prstGeom prst="rect">
            <a:avLst/>
          </a:prstGeom>
          <a:solidFill>
            <a:srgbClr val="1C75C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246120" y="1572768"/>
            <a:ext cx="3878427" cy="237744"/>
          </a:xfrm>
          <a:prstGeom prst="rect">
            <a:avLst/>
          </a:prstGeom>
          <a:noFill/>
        </p:spPr>
        <p:txBody>
          <a:bodyPr wrap="square" lIns="45720" tIns="18288" rIns="45720" bIns="18288" anchor="t">
            <a:spAutoFit/>
          </a:bodyPr>
          <a:lstStyle/>
          <a:p>
            <a:pPr algn="l"/>
            <a:r>
              <a:rPr sz="1200" b="1">
                <a:solidFill>
                  <a:srgbClr val="1C75C9"/>
                </a:solidFill>
                <a:latin typeface="Noto Sans KR"/>
              </a:rPr>
              <a:t>1과정</a:t>
            </a:r>
          </a:p>
        </p:txBody>
      </p:sp>
      <p:sp>
        <p:nvSpPr>
          <p:cNvPr id="10" name="TextBox 9"/>
          <p:cNvSpPr txBox="1"/>
          <p:nvPr/>
        </p:nvSpPr>
        <p:spPr>
          <a:xfrm>
            <a:off x="3246120" y="1828800"/>
            <a:ext cx="3878427" cy="365760"/>
          </a:xfrm>
          <a:prstGeom prst="rect">
            <a:avLst/>
          </a:prstGeom>
          <a:noFill/>
        </p:spPr>
        <p:txBody>
          <a:bodyPr wrap="square" lIns="45720" tIns="18288" rIns="45720" bIns="18288" anchor="t">
            <a:spAutoFit/>
          </a:bodyPr>
          <a:lstStyle/>
          <a:p>
            <a:pPr algn="l">
              <a:lnSpc>
                <a:spcPct val="112000"/>
              </a:lnSpc>
            </a:pPr>
            <a:r>
              <a:rPr sz="1300" b="1">
                <a:solidFill>
                  <a:srgbClr val="1E293B"/>
                </a:solidFill>
                <a:latin typeface="Noto Sans KR"/>
              </a:rPr>
              <a:t>AI 보안의 이해</a:t>
            </a:r>
          </a:p>
        </p:txBody>
      </p:sp>
      <p:sp>
        <p:nvSpPr>
          <p:cNvPr id="11" name="TextBox 10"/>
          <p:cNvSpPr txBox="1"/>
          <p:nvPr/>
        </p:nvSpPr>
        <p:spPr>
          <a:xfrm>
            <a:off x="3246120" y="2231136"/>
            <a:ext cx="3878427" cy="658368"/>
          </a:xfrm>
          <a:prstGeom prst="rect">
            <a:avLst/>
          </a:prstGeom>
          <a:noFill/>
        </p:spPr>
        <p:txBody>
          <a:bodyPr wrap="square" lIns="45720" tIns="18288" rIns="45720" bIns="18288" anchor="t">
            <a:spAutoFit/>
          </a:bodyPr>
          <a:lstStyle/>
          <a:p>
            <a:pPr algn="l">
              <a:lnSpc>
                <a:spcPct val="130000"/>
              </a:lnSpc>
            </a:pPr>
            <a:r>
              <a:rPr sz="1200" b="0">
                <a:solidFill>
                  <a:srgbClr val="475569"/>
                </a:solidFill>
                <a:latin typeface="Noto Sans KR"/>
              </a:rPr>
              <a:t>·  AI 기본 원리 및 위협 모델링
·  프롬프트 인젝션 위협 요소 분석</a:t>
            </a:r>
          </a:p>
        </p:txBody>
      </p:sp>
      <p:sp>
        <p:nvSpPr>
          <p:cNvPr id="12" name="Rounded Rectangle 11"/>
          <p:cNvSpPr/>
          <p:nvPr/>
        </p:nvSpPr>
        <p:spPr>
          <a:xfrm>
            <a:off x="7453731" y="1444752"/>
            <a:ext cx="4280763" cy="1554480"/>
          </a:xfrm>
          <a:prstGeom prst="roundRect">
            <a:avLst>
              <a:gd name="adj" fmla="val 4705"/>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7453731" y="1536192"/>
            <a:ext cx="64008" cy="1371600"/>
          </a:xfrm>
          <a:prstGeom prst="rect">
            <a:avLst/>
          </a:prstGeom>
          <a:solidFill>
            <a:srgbClr val="1C75C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691475" y="1572768"/>
            <a:ext cx="3878427" cy="237744"/>
          </a:xfrm>
          <a:prstGeom prst="rect">
            <a:avLst/>
          </a:prstGeom>
          <a:noFill/>
        </p:spPr>
        <p:txBody>
          <a:bodyPr wrap="square" lIns="45720" tIns="18288" rIns="45720" bIns="18288" anchor="t">
            <a:spAutoFit/>
          </a:bodyPr>
          <a:lstStyle/>
          <a:p>
            <a:pPr algn="l"/>
            <a:r>
              <a:rPr sz="1200" b="1">
                <a:solidFill>
                  <a:srgbClr val="1C75C9"/>
                </a:solidFill>
                <a:latin typeface="Noto Sans KR"/>
              </a:rPr>
              <a:t>2과정</a:t>
            </a:r>
          </a:p>
        </p:txBody>
      </p:sp>
      <p:sp>
        <p:nvSpPr>
          <p:cNvPr id="15" name="TextBox 14"/>
          <p:cNvSpPr txBox="1"/>
          <p:nvPr/>
        </p:nvSpPr>
        <p:spPr>
          <a:xfrm>
            <a:off x="7691475" y="1828800"/>
            <a:ext cx="3878427" cy="365760"/>
          </a:xfrm>
          <a:prstGeom prst="rect">
            <a:avLst/>
          </a:prstGeom>
          <a:noFill/>
        </p:spPr>
        <p:txBody>
          <a:bodyPr wrap="square" lIns="45720" tIns="18288" rIns="45720" bIns="18288" anchor="t">
            <a:spAutoFit/>
          </a:bodyPr>
          <a:lstStyle/>
          <a:p>
            <a:pPr algn="l">
              <a:lnSpc>
                <a:spcPct val="112000"/>
              </a:lnSpc>
            </a:pPr>
            <a:r>
              <a:rPr sz="1300" b="1">
                <a:solidFill>
                  <a:srgbClr val="1E293B"/>
                </a:solidFill>
                <a:latin typeface="Noto Sans KR"/>
              </a:rPr>
              <a:t>AI 보안 업무 자동화 및 활용</a:t>
            </a:r>
          </a:p>
        </p:txBody>
      </p:sp>
      <p:sp>
        <p:nvSpPr>
          <p:cNvPr id="16" name="TextBox 15"/>
          <p:cNvSpPr txBox="1"/>
          <p:nvPr/>
        </p:nvSpPr>
        <p:spPr>
          <a:xfrm>
            <a:off x="7691475" y="2231136"/>
            <a:ext cx="3878427" cy="658368"/>
          </a:xfrm>
          <a:prstGeom prst="rect">
            <a:avLst/>
          </a:prstGeom>
          <a:noFill/>
        </p:spPr>
        <p:txBody>
          <a:bodyPr wrap="square" lIns="45720" tIns="18288" rIns="45720" bIns="18288" anchor="t">
            <a:spAutoFit/>
          </a:bodyPr>
          <a:lstStyle/>
          <a:p>
            <a:pPr algn="l">
              <a:lnSpc>
                <a:spcPct val="130000"/>
              </a:lnSpc>
            </a:pPr>
            <a:r>
              <a:rPr sz="1200" b="0">
                <a:solidFill>
                  <a:srgbClr val="475569"/>
                </a:solidFill>
                <a:latin typeface="Noto Sans KR"/>
              </a:rPr>
              <a:t>·  생성형 AI 기반 보안업무 자동화 기초
·  민감 정보 유출 방지 및 안전한 개발환경 구축</a:t>
            </a:r>
          </a:p>
        </p:txBody>
      </p:sp>
      <p:sp>
        <p:nvSpPr>
          <p:cNvPr id="17" name="Rounded Rectangle 16"/>
          <p:cNvSpPr/>
          <p:nvPr/>
        </p:nvSpPr>
        <p:spPr>
          <a:xfrm>
            <a:off x="457200" y="3200400"/>
            <a:ext cx="2331720" cy="1554480"/>
          </a:xfrm>
          <a:prstGeom prst="roundRect">
            <a:avLst>
              <a:gd name="adj" fmla="val 5882"/>
            </a:avLst>
          </a:prstGeom>
          <a:solidFill>
            <a:srgbClr val="13AAE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40080" y="3364992"/>
            <a:ext cx="1965960" cy="420624"/>
          </a:xfrm>
          <a:prstGeom prst="rect">
            <a:avLst/>
          </a:prstGeom>
          <a:noFill/>
        </p:spPr>
        <p:txBody>
          <a:bodyPr wrap="square" lIns="45720" tIns="18288" rIns="45720" bIns="18288" anchor="t">
            <a:spAutoFit/>
          </a:bodyPr>
          <a:lstStyle/>
          <a:p>
            <a:pPr algn="l"/>
            <a:r>
              <a:rPr sz="1400" b="1">
                <a:solidFill>
                  <a:srgbClr val="FFFFFF"/>
                </a:solidFill>
                <a:latin typeface="Noto Sans KR"/>
              </a:rPr>
              <a:t>중급 (Intermediate)</a:t>
            </a:r>
          </a:p>
        </p:txBody>
      </p:sp>
      <p:sp>
        <p:nvSpPr>
          <p:cNvPr id="19" name="TextBox 18"/>
          <p:cNvSpPr txBox="1"/>
          <p:nvPr/>
        </p:nvSpPr>
        <p:spPr>
          <a:xfrm>
            <a:off x="640080" y="3858768"/>
            <a:ext cx="1965960" cy="749808"/>
          </a:xfrm>
          <a:prstGeom prst="rect">
            <a:avLst/>
          </a:prstGeom>
          <a:noFill/>
        </p:spPr>
        <p:txBody>
          <a:bodyPr wrap="square" lIns="45720" tIns="18288" rIns="45720" bIns="18288" anchor="t">
            <a:spAutoFit/>
          </a:bodyPr>
          <a:lstStyle/>
          <a:p>
            <a:pPr algn="l">
              <a:lnSpc>
                <a:spcPct val="118000"/>
              </a:lnSpc>
            </a:pPr>
            <a:r>
              <a:rPr sz="1250" b="1">
                <a:solidFill>
                  <a:srgbClr val="FFFFFF"/>
                </a:solidFill>
                <a:latin typeface="Noto Sans KR"/>
              </a:rPr>
              <a:t>AI 인프라 구축 및 지능형 보안</a:t>
            </a:r>
          </a:p>
        </p:txBody>
      </p:sp>
      <p:sp>
        <p:nvSpPr>
          <p:cNvPr id="20" name="Rounded Rectangle 19"/>
          <p:cNvSpPr/>
          <p:nvPr/>
        </p:nvSpPr>
        <p:spPr>
          <a:xfrm>
            <a:off x="3008376" y="3200400"/>
            <a:ext cx="2798978" cy="1554480"/>
          </a:xfrm>
          <a:prstGeom prst="roundRect">
            <a:avLst>
              <a:gd name="adj" fmla="val 4705"/>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3008376" y="3291840"/>
            <a:ext cx="64008" cy="1371600"/>
          </a:xfrm>
          <a:prstGeom prst="rect">
            <a:avLst/>
          </a:prstGeom>
          <a:solidFill>
            <a:srgbClr val="13AAE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3246120" y="3328416"/>
            <a:ext cx="2396642" cy="237744"/>
          </a:xfrm>
          <a:prstGeom prst="rect">
            <a:avLst/>
          </a:prstGeom>
          <a:noFill/>
        </p:spPr>
        <p:txBody>
          <a:bodyPr wrap="square" lIns="45720" tIns="18288" rIns="45720" bIns="18288" anchor="t">
            <a:spAutoFit/>
          </a:bodyPr>
          <a:lstStyle/>
          <a:p>
            <a:pPr algn="l"/>
            <a:r>
              <a:rPr sz="1200" b="1">
                <a:solidFill>
                  <a:srgbClr val="13AAED"/>
                </a:solidFill>
                <a:latin typeface="Noto Sans KR"/>
              </a:rPr>
              <a:t>3과정</a:t>
            </a:r>
          </a:p>
        </p:txBody>
      </p:sp>
      <p:sp>
        <p:nvSpPr>
          <p:cNvPr id="23" name="TextBox 22"/>
          <p:cNvSpPr txBox="1"/>
          <p:nvPr/>
        </p:nvSpPr>
        <p:spPr>
          <a:xfrm>
            <a:off x="3246120" y="3584448"/>
            <a:ext cx="2396642" cy="365760"/>
          </a:xfrm>
          <a:prstGeom prst="rect">
            <a:avLst/>
          </a:prstGeom>
          <a:noFill/>
        </p:spPr>
        <p:txBody>
          <a:bodyPr wrap="square" lIns="45720" tIns="18288" rIns="45720" bIns="18288" anchor="t">
            <a:spAutoFit/>
          </a:bodyPr>
          <a:lstStyle/>
          <a:p>
            <a:pPr algn="l">
              <a:lnSpc>
                <a:spcPct val="112000"/>
              </a:lnSpc>
            </a:pPr>
            <a:r>
              <a:rPr sz="1300" b="1">
                <a:solidFill>
                  <a:srgbClr val="1E293B"/>
                </a:solidFill>
                <a:latin typeface="Noto Sans KR"/>
              </a:rPr>
              <a:t>안전한 로컬 LLM 구축</a:t>
            </a:r>
          </a:p>
        </p:txBody>
      </p:sp>
      <p:sp>
        <p:nvSpPr>
          <p:cNvPr id="24" name="TextBox 23"/>
          <p:cNvSpPr txBox="1"/>
          <p:nvPr/>
        </p:nvSpPr>
        <p:spPr>
          <a:xfrm>
            <a:off x="3246120" y="3986784"/>
            <a:ext cx="2396642" cy="658367"/>
          </a:xfrm>
          <a:prstGeom prst="rect">
            <a:avLst/>
          </a:prstGeom>
          <a:noFill/>
        </p:spPr>
        <p:txBody>
          <a:bodyPr wrap="square" lIns="45720" tIns="18288" rIns="45720" bIns="18288" anchor="t">
            <a:spAutoFit/>
          </a:bodyPr>
          <a:lstStyle/>
          <a:p>
            <a:pPr algn="l">
              <a:lnSpc>
                <a:spcPct val="130000"/>
              </a:lnSpc>
            </a:pPr>
            <a:r>
              <a:rPr sz="1000" b="0">
                <a:solidFill>
                  <a:srgbClr val="475569"/>
                </a:solidFill>
                <a:latin typeface="Noto Sans KR"/>
              </a:rPr>
              <a:t>·  온프레미스 sLLM 독립망 구축
·  RAG 파이프라인 연계 및 파인튜닝</a:t>
            </a:r>
          </a:p>
        </p:txBody>
      </p:sp>
      <p:sp>
        <p:nvSpPr>
          <p:cNvPr id="25" name="Rounded Rectangle 24"/>
          <p:cNvSpPr/>
          <p:nvPr/>
        </p:nvSpPr>
        <p:spPr>
          <a:xfrm>
            <a:off x="5971946" y="3200400"/>
            <a:ext cx="2798978" cy="1554480"/>
          </a:xfrm>
          <a:prstGeom prst="roundRect">
            <a:avLst>
              <a:gd name="adj" fmla="val 4705"/>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5971946" y="3291840"/>
            <a:ext cx="64008" cy="1371600"/>
          </a:xfrm>
          <a:prstGeom prst="rect">
            <a:avLst/>
          </a:prstGeom>
          <a:solidFill>
            <a:srgbClr val="13AAE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209690" y="3328416"/>
            <a:ext cx="2396642" cy="237744"/>
          </a:xfrm>
          <a:prstGeom prst="rect">
            <a:avLst/>
          </a:prstGeom>
          <a:noFill/>
        </p:spPr>
        <p:txBody>
          <a:bodyPr wrap="square" lIns="45720" tIns="18288" rIns="45720" bIns="18288" anchor="t">
            <a:spAutoFit/>
          </a:bodyPr>
          <a:lstStyle/>
          <a:p>
            <a:pPr algn="l"/>
            <a:r>
              <a:rPr sz="1200" b="1">
                <a:solidFill>
                  <a:srgbClr val="13AAED"/>
                </a:solidFill>
                <a:latin typeface="Noto Sans KR"/>
              </a:rPr>
              <a:t>4과정</a:t>
            </a:r>
          </a:p>
        </p:txBody>
      </p:sp>
      <p:sp>
        <p:nvSpPr>
          <p:cNvPr id="28" name="TextBox 27"/>
          <p:cNvSpPr txBox="1"/>
          <p:nvPr/>
        </p:nvSpPr>
        <p:spPr>
          <a:xfrm>
            <a:off x="6209690" y="3584448"/>
            <a:ext cx="2396642" cy="365760"/>
          </a:xfrm>
          <a:prstGeom prst="rect">
            <a:avLst/>
          </a:prstGeom>
          <a:noFill/>
        </p:spPr>
        <p:txBody>
          <a:bodyPr wrap="square" lIns="45720" tIns="18288" rIns="45720" bIns="18288" anchor="t">
            <a:spAutoFit/>
          </a:bodyPr>
          <a:lstStyle/>
          <a:p>
            <a:pPr algn="l">
              <a:lnSpc>
                <a:spcPct val="112000"/>
              </a:lnSpc>
            </a:pPr>
            <a:r>
              <a:rPr sz="1300" b="1">
                <a:solidFill>
                  <a:srgbClr val="1E293B"/>
                </a:solidFill>
                <a:latin typeface="Noto Sans KR"/>
              </a:rPr>
              <a:t>로컬 LLM 활용 사이버 보안</a:t>
            </a:r>
          </a:p>
        </p:txBody>
      </p:sp>
      <p:sp>
        <p:nvSpPr>
          <p:cNvPr id="29" name="TextBox 28"/>
          <p:cNvSpPr txBox="1"/>
          <p:nvPr/>
        </p:nvSpPr>
        <p:spPr>
          <a:xfrm>
            <a:off x="6209690" y="3986784"/>
            <a:ext cx="2396642" cy="658367"/>
          </a:xfrm>
          <a:prstGeom prst="rect">
            <a:avLst/>
          </a:prstGeom>
          <a:noFill/>
        </p:spPr>
        <p:txBody>
          <a:bodyPr wrap="square" lIns="45720" tIns="18288" rIns="45720" bIns="18288" anchor="t">
            <a:spAutoFit/>
          </a:bodyPr>
          <a:lstStyle/>
          <a:p>
            <a:pPr algn="l">
              <a:lnSpc>
                <a:spcPct val="130000"/>
              </a:lnSpc>
            </a:pPr>
            <a:r>
              <a:rPr sz="1000" b="0">
                <a:solidFill>
                  <a:srgbClr val="475569"/>
                </a:solidFill>
                <a:latin typeface="Noto Sans KR"/>
              </a:rPr>
              <a:t>·  ML 기반 악성코드 및 변칙 분석
·  SOAR/CTI 연계 통합 관제</a:t>
            </a:r>
          </a:p>
        </p:txBody>
      </p:sp>
      <p:sp>
        <p:nvSpPr>
          <p:cNvPr id="30" name="Rounded Rectangle 29"/>
          <p:cNvSpPr/>
          <p:nvPr/>
        </p:nvSpPr>
        <p:spPr>
          <a:xfrm>
            <a:off x="8935516" y="3200400"/>
            <a:ext cx="2798978" cy="1554480"/>
          </a:xfrm>
          <a:prstGeom prst="roundRect">
            <a:avLst>
              <a:gd name="adj" fmla="val 4705"/>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8935516" y="3291840"/>
            <a:ext cx="64008" cy="1371600"/>
          </a:xfrm>
          <a:prstGeom prst="rect">
            <a:avLst/>
          </a:prstGeom>
          <a:solidFill>
            <a:srgbClr val="13AAE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9173260" y="3328416"/>
            <a:ext cx="2396642" cy="237744"/>
          </a:xfrm>
          <a:prstGeom prst="rect">
            <a:avLst/>
          </a:prstGeom>
          <a:noFill/>
        </p:spPr>
        <p:txBody>
          <a:bodyPr wrap="square" lIns="45720" tIns="18288" rIns="45720" bIns="18288" anchor="t">
            <a:spAutoFit/>
          </a:bodyPr>
          <a:lstStyle/>
          <a:p>
            <a:pPr algn="l"/>
            <a:r>
              <a:rPr sz="1200" b="1">
                <a:solidFill>
                  <a:srgbClr val="13AAED"/>
                </a:solidFill>
                <a:latin typeface="Noto Sans KR"/>
              </a:rPr>
              <a:t>5과정</a:t>
            </a:r>
          </a:p>
        </p:txBody>
      </p:sp>
      <p:sp>
        <p:nvSpPr>
          <p:cNvPr id="33" name="TextBox 32"/>
          <p:cNvSpPr txBox="1"/>
          <p:nvPr/>
        </p:nvSpPr>
        <p:spPr>
          <a:xfrm>
            <a:off x="9173260" y="3584448"/>
            <a:ext cx="2396642" cy="365760"/>
          </a:xfrm>
          <a:prstGeom prst="rect">
            <a:avLst/>
          </a:prstGeom>
          <a:noFill/>
        </p:spPr>
        <p:txBody>
          <a:bodyPr wrap="square" lIns="45720" tIns="18288" rIns="45720" bIns="18288" anchor="t">
            <a:spAutoFit/>
          </a:bodyPr>
          <a:lstStyle/>
          <a:p>
            <a:pPr algn="l">
              <a:lnSpc>
                <a:spcPct val="112000"/>
              </a:lnSpc>
            </a:pPr>
            <a:r>
              <a:rPr sz="1100" b="1">
                <a:solidFill>
                  <a:srgbClr val="1E293B"/>
                </a:solidFill>
                <a:latin typeface="Noto Sans KR"/>
              </a:rPr>
              <a:t>Agentic AI(Mythos) 공격 대응</a:t>
            </a:r>
          </a:p>
        </p:txBody>
      </p:sp>
      <p:sp>
        <p:nvSpPr>
          <p:cNvPr id="34" name="TextBox 33"/>
          <p:cNvSpPr txBox="1"/>
          <p:nvPr/>
        </p:nvSpPr>
        <p:spPr>
          <a:xfrm>
            <a:off x="9173260" y="3986784"/>
            <a:ext cx="2396642" cy="658367"/>
          </a:xfrm>
          <a:prstGeom prst="rect">
            <a:avLst/>
          </a:prstGeom>
          <a:noFill/>
        </p:spPr>
        <p:txBody>
          <a:bodyPr wrap="square" lIns="45720" tIns="18288" rIns="45720" bIns="18288" anchor="t">
            <a:spAutoFit/>
          </a:bodyPr>
          <a:lstStyle/>
          <a:p>
            <a:pPr algn="l">
              <a:lnSpc>
                <a:spcPct val="130000"/>
              </a:lnSpc>
            </a:pPr>
            <a:r>
              <a:rPr sz="1000" b="0">
                <a:solidFill>
                  <a:srgbClr val="475569"/>
                </a:solidFill>
                <a:latin typeface="Noto Sans KR"/>
              </a:rPr>
              <a:t>·  미토스 쇼크 등 자율 해킹 분석
·  LLM 활용 취약점 탐지·지능형 제로트러스트 구현</a:t>
            </a:r>
          </a:p>
        </p:txBody>
      </p:sp>
      <p:sp>
        <p:nvSpPr>
          <p:cNvPr id="35" name="Rounded Rectangle 34"/>
          <p:cNvSpPr/>
          <p:nvPr/>
        </p:nvSpPr>
        <p:spPr>
          <a:xfrm>
            <a:off x="457200" y="4956048"/>
            <a:ext cx="2331720" cy="1554480"/>
          </a:xfrm>
          <a:prstGeom prst="roundRect">
            <a:avLst>
              <a:gd name="adj" fmla="val 5882"/>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640080" y="5120640"/>
            <a:ext cx="1965960" cy="420624"/>
          </a:xfrm>
          <a:prstGeom prst="rect">
            <a:avLst/>
          </a:prstGeom>
          <a:noFill/>
        </p:spPr>
        <p:txBody>
          <a:bodyPr wrap="square" lIns="45720" tIns="18288" rIns="45720" bIns="18288" anchor="t">
            <a:spAutoFit/>
          </a:bodyPr>
          <a:lstStyle/>
          <a:p>
            <a:pPr algn="l"/>
            <a:r>
              <a:rPr sz="1500" b="1">
                <a:solidFill>
                  <a:srgbClr val="FFFFFF"/>
                </a:solidFill>
                <a:latin typeface="Noto Sans KR"/>
              </a:rPr>
              <a:t>고급 (Advanced)</a:t>
            </a:r>
          </a:p>
        </p:txBody>
      </p:sp>
      <p:sp>
        <p:nvSpPr>
          <p:cNvPr id="37" name="TextBox 36"/>
          <p:cNvSpPr txBox="1"/>
          <p:nvPr/>
        </p:nvSpPr>
        <p:spPr>
          <a:xfrm>
            <a:off x="640080" y="5614416"/>
            <a:ext cx="1965960" cy="749808"/>
          </a:xfrm>
          <a:prstGeom prst="rect">
            <a:avLst/>
          </a:prstGeom>
          <a:noFill/>
        </p:spPr>
        <p:txBody>
          <a:bodyPr wrap="square" lIns="45720" tIns="18288" rIns="45720" bIns="18288" anchor="t">
            <a:spAutoFit/>
          </a:bodyPr>
          <a:lstStyle/>
          <a:p>
            <a:pPr algn="l">
              <a:lnSpc>
                <a:spcPct val="118000"/>
              </a:lnSpc>
            </a:pPr>
            <a:r>
              <a:rPr sz="1250" b="1">
                <a:solidFill>
                  <a:srgbClr val="FFFFFF"/>
                </a:solidFill>
                <a:latin typeface="Noto Sans KR"/>
              </a:rPr>
              <a:t>LLM 심층 방어 및 회복</a:t>
            </a:r>
          </a:p>
        </p:txBody>
      </p:sp>
      <p:sp>
        <p:nvSpPr>
          <p:cNvPr id="38" name="Rounded Rectangle 37"/>
          <p:cNvSpPr/>
          <p:nvPr/>
        </p:nvSpPr>
        <p:spPr>
          <a:xfrm>
            <a:off x="3008376" y="4956048"/>
            <a:ext cx="4280763" cy="1554480"/>
          </a:xfrm>
          <a:prstGeom prst="roundRect">
            <a:avLst>
              <a:gd name="adj" fmla="val 4705"/>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ectangle 38"/>
          <p:cNvSpPr/>
          <p:nvPr/>
        </p:nvSpPr>
        <p:spPr>
          <a:xfrm>
            <a:off x="3008376" y="5047488"/>
            <a:ext cx="64008" cy="13716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3246120" y="5084064"/>
            <a:ext cx="3878427" cy="237744"/>
          </a:xfrm>
          <a:prstGeom prst="rect">
            <a:avLst/>
          </a:prstGeom>
          <a:noFill/>
        </p:spPr>
        <p:txBody>
          <a:bodyPr wrap="square" lIns="45720" tIns="18288" rIns="45720" bIns="18288" anchor="t">
            <a:spAutoFit/>
          </a:bodyPr>
          <a:lstStyle/>
          <a:p>
            <a:pPr algn="l"/>
            <a:r>
              <a:rPr sz="1200" b="1">
                <a:solidFill>
                  <a:srgbClr val="059669"/>
                </a:solidFill>
                <a:latin typeface="Noto Sans KR"/>
              </a:rPr>
              <a:t>6과정</a:t>
            </a:r>
          </a:p>
        </p:txBody>
      </p:sp>
      <p:sp>
        <p:nvSpPr>
          <p:cNvPr id="41" name="TextBox 40"/>
          <p:cNvSpPr txBox="1"/>
          <p:nvPr/>
        </p:nvSpPr>
        <p:spPr>
          <a:xfrm>
            <a:off x="3246120" y="5340096"/>
            <a:ext cx="3878427" cy="365760"/>
          </a:xfrm>
          <a:prstGeom prst="rect">
            <a:avLst/>
          </a:prstGeom>
          <a:noFill/>
        </p:spPr>
        <p:txBody>
          <a:bodyPr wrap="square" lIns="45720" tIns="18288" rIns="45720" bIns="18288" anchor="t">
            <a:spAutoFit/>
          </a:bodyPr>
          <a:lstStyle/>
          <a:p>
            <a:pPr algn="l">
              <a:lnSpc>
                <a:spcPct val="112000"/>
              </a:lnSpc>
            </a:pPr>
            <a:r>
              <a:rPr sz="1300" b="1">
                <a:solidFill>
                  <a:srgbClr val="1E293B"/>
                </a:solidFill>
                <a:latin typeface="Noto Sans KR"/>
              </a:rPr>
              <a:t>LLM 취약점 진단 및 방어</a:t>
            </a:r>
          </a:p>
        </p:txBody>
      </p:sp>
      <p:sp>
        <p:nvSpPr>
          <p:cNvPr id="42" name="TextBox 41"/>
          <p:cNvSpPr txBox="1"/>
          <p:nvPr/>
        </p:nvSpPr>
        <p:spPr>
          <a:xfrm>
            <a:off x="3246120" y="5742432"/>
            <a:ext cx="3878427" cy="658367"/>
          </a:xfrm>
          <a:prstGeom prst="rect">
            <a:avLst/>
          </a:prstGeom>
          <a:noFill/>
        </p:spPr>
        <p:txBody>
          <a:bodyPr wrap="square" lIns="45720" tIns="18288" rIns="45720" bIns="18288" anchor="t">
            <a:spAutoFit/>
          </a:bodyPr>
          <a:lstStyle/>
          <a:p>
            <a:pPr algn="l">
              <a:lnSpc>
                <a:spcPct val="130000"/>
              </a:lnSpc>
            </a:pPr>
            <a:r>
              <a:rPr sz="1200" b="0">
                <a:solidFill>
                  <a:srgbClr val="475569"/>
                </a:solidFill>
                <a:latin typeface="Noto Sans KR"/>
              </a:rPr>
              <a:t>·  OWASP Top 10 for LLM 레드티밍 (공격 진단)
·  입력값 필터링·가드레일 설치 (방어)</a:t>
            </a:r>
          </a:p>
        </p:txBody>
      </p:sp>
      <p:sp>
        <p:nvSpPr>
          <p:cNvPr id="43" name="Rounded Rectangle 42"/>
          <p:cNvSpPr/>
          <p:nvPr/>
        </p:nvSpPr>
        <p:spPr>
          <a:xfrm>
            <a:off x="7453731" y="4956048"/>
            <a:ext cx="4280763" cy="1554480"/>
          </a:xfrm>
          <a:prstGeom prst="roundRect">
            <a:avLst>
              <a:gd name="adj" fmla="val 4705"/>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Rectangle 43"/>
          <p:cNvSpPr/>
          <p:nvPr/>
        </p:nvSpPr>
        <p:spPr>
          <a:xfrm>
            <a:off x="7453731" y="5047488"/>
            <a:ext cx="64008" cy="13716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7691475" y="5084064"/>
            <a:ext cx="3878427" cy="237744"/>
          </a:xfrm>
          <a:prstGeom prst="rect">
            <a:avLst/>
          </a:prstGeom>
          <a:noFill/>
        </p:spPr>
        <p:txBody>
          <a:bodyPr wrap="square" lIns="45720" tIns="18288" rIns="45720" bIns="18288" anchor="t">
            <a:spAutoFit/>
          </a:bodyPr>
          <a:lstStyle/>
          <a:p>
            <a:pPr algn="l"/>
            <a:r>
              <a:rPr sz="1200" b="1">
                <a:solidFill>
                  <a:srgbClr val="059669"/>
                </a:solidFill>
                <a:latin typeface="Noto Sans KR"/>
              </a:rPr>
              <a:t>7과정</a:t>
            </a:r>
          </a:p>
        </p:txBody>
      </p:sp>
      <p:sp>
        <p:nvSpPr>
          <p:cNvPr id="46" name="TextBox 45"/>
          <p:cNvSpPr txBox="1"/>
          <p:nvPr/>
        </p:nvSpPr>
        <p:spPr>
          <a:xfrm>
            <a:off x="7691475" y="5340096"/>
            <a:ext cx="3878427" cy="365760"/>
          </a:xfrm>
          <a:prstGeom prst="rect">
            <a:avLst/>
          </a:prstGeom>
          <a:noFill/>
        </p:spPr>
        <p:txBody>
          <a:bodyPr wrap="square" lIns="45720" tIns="18288" rIns="45720" bIns="18288" anchor="t">
            <a:spAutoFit/>
          </a:bodyPr>
          <a:lstStyle/>
          <a:p>
            <a:pPr algn="l">
              <a:lnSpc>
                <a:spcPct val="112000"/>
              </a:lnSpc>
            </a:pPr>
            <a:r>
              <a:rPr sz="1300" b="1">
                <a:solidFill>
                  <a:srgbClr val="1E293B"/>
                </a:solidFill>
                <a:latin typeface="Noto Sans KR"/>
              </a:rPr>
              <a:t>AI 침해대응 및 복구</a:t>
            </a:r>
          </a:p>
        </p:txBody>
      </p:sp>
      <p:sp>
        <p:nvSpPr>
          <p:cNvPr id="47" name="TextBox 46"/>
          <p:cNvSpPr txBox="1"/>
          <p:nvPr/>
        </p:nvSpPr>
        <p:spPr>
          <a:xfrm>
            <a:off x="7691475" y="5742432"/>
            <a:ext cx="3878427" cy="658367"/>
          </a:xfrm>
          <a:prstGeom prst="rect">
            <a:avLst/>
          </a:prstGeom>
          <a:noFill/>
        </p:spPr>
        <p:txBody>
          <a:bodyPr wrap="square" lIns="45720" tIns="18288" rIns="45720" bIns="18288" anchor="t">
            <a:spAutoFit/>
          </a:bodyPr>
          <a:lstStyle/>
          <a:p>
            <a:pPr algn="l">
              <a:lnSpc>
                <a:spcPct val="130000"/>
              </a:lnSpc>
            </a:pPr>
            <a:r>
              <a:rPr sz="1200" b="0">
                <a:solidFill>
                  <a:srgbClr val="475569"/>
                </a:solidFill>
                <a:latin typeface="Noto Sans KR"/>
              </a:rPr>
              <a:t>·  AI 변칙 로그 및 적대적 침해 탐지
·  모델 포렌식 및 회복 실습</a:t>
            </a:r>
          </a:p>
        </p:txBody>
      </p:sp>
      <p:sp>
        <p:nvSpPr>
          <p:cNvPr id="48" name="TextBox 47"/>
          <p:cNvSpPr txBox="1"/>
          <p:nvPr/>
        </p:nvSpPr>
        <p:spPr>
          <a:xfrm>
            <a:off x="11734495" y="6492240"/>
            <a:ext cx="365760" cy="228600"/>
          </a:xfrm>
          <a:prstGeom prst="rect">
            <a:avLst/>
          </a:prstGeom>
          <a:noFill/>
        </p:spPr>
        <p:txBody>
          <a:bodyPr wrap="square" lIns="45720" tIns="18288" rIns="45720" bIns="18288" anchor="t">
            <a:spAutoFit/>
          </a:bodyPr>
          <a:lstStyle/>
          <a:p>
            <a:pPr algn="r"/>
            <a:r>
              <a:rPr sz="900" b="0">
                <a:solidFill>
                  <a:srgbClr val="94A3B8"/>
                </a:solidFill>
                <a:latin typeface="Noto Sans KR"/>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512064"/>
            <a:ext cx="10893247" cy="731520"/>
          </a:xfrm>
          <a:prstGeom prst="rect">
            <a:avLst/>
          </a:prstGeom>
          <a:noFill/>
        </p:spPr>
        <p:txBody>
          <a:bodyPr wrap="square" lIns="45720" tIns="18288" rIns="45720" bIns="18288" anchor="t">
            <a:spAutoFit/>
          </a:bodyPr>
          <a:lstStyle/>
          <a:p>
            <a:pPr algn="l"/>
            <a:r>
              <a:rPr sz="2700" b="1">
                <a:solidFill>
                  <a:srgbClr val="1B2330"/>
                </a:solidFill>
                <a:latin typeface="Noto Sans KR"/>
              </a:rPr>
              <a:t>수준별 3단계 7과정 — AI 사이버보안 학습 경로</a:t>
            </a:r>
          </a:p>
        </p:txBody>
      </p:sp>
      <p:sp>
        <p:nvSpPr>
          <p:cNvPr id="3" name="TextBox 2"/>
          <p:cNvSpPr txBox="1"/>
          <p:nvPr/>
        </p:nvSpPr>
        <p:spPr>
          <a:xfrm>
            <a:off x="676656" y="1188720"/>
            <a:ext cx="10820095" cy="365760"/>
          </a:xfrm>
          <a:prstGeom prst="rect">
            <a:avLst/>
          </a:prstGeom>
          <a:noFill/>
        </p:spPr>
        <p:txBody>
          <a:bodyPr wrap="square" lIns="45720" tIns="18288" rIns="45720" bIns="18288" anchor="t">
            <a:spAutoFit/>
          </a:bodyPr>
          <a:lstStyle/>
          <a:p>
            <a:pPr algn="l"/>
            <a:r>
              <a:rPr sz="1300" b="0">
                <a:solidFill>
                  <a:srgbClr val="5B6470"/>
                </a:solidFill>
                <a:latin typeface="Noto Sans KR"/>
              </a:rPr>
              <a:t>초급 안전한 활용 → 중급 AI for Security → 고급 Security for AI · 전체 과정의 25%를 AI 보안으로 구성</a:t>
            </a:r>
          </a:p>
        </p:txBody>
      </p:sp>
      <p:sp>
        <p:nvSpPr>
          <p:cNvPr id="4" name="Rounded Rectangle 3"/>
          <p:cNvSpPr/>
          <p:nvPr/>
        </p:nvSpPr>
        <p:spPr>
          <a:xfrm>
            <a:off x="457200" y="1691640"/>
            <a:ext cx="3545738" cy="4206240"/>
          </a:xfrm>
          <a:prstGeom prst="roundRect">
            <a:avLst>
              <a:gd name="adj" fmla="val 3094"/>
            </a:avLst>
          </a:prstGeom>
          <a:solidFill>
            <a:srgbClr val="E6F0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40080" y="1828800"/>
            <a:ext cx="3179978" cy="365760"/>
          </a:xfrm>
          <a:prstGeom prst="rect">
            <a:avLst/>
          </a:prstGeom>
          <a:noFill/>
        </p:spPr>
        <p:txBody>
          <a:bodyPr wrap="square" lIns="45720" tIns="18288" rIns="45720" bIns="18288" anchor="ctr">
            <a:spAutoFit/>
          </a:bodyPr>
          <a:lstStyle/>
          <a:p>
            <a:pPr algn="l"/>
            <a:r>
              <a:rPr sz="1200" b="1">
                <a:solidFill>
                  <a:srgbClr val="1C75C9"/>
                </a:solidFill>
                <a:latin typeface="Noto Sans KR"/>
              </a:rPr>
              <a:t>초급 · 안전한 AI 활용</a:t>
            </a:r>
          </a:p>
        </p:txBody>
      </p:sp>
      <p:sp>
        <p:nvSpPr>
          <p:cNvPr id="6" name="Rounded Rectangle 5"/>
          <p:cNvSpPr/>
          <p:nvPr/>
        </p:nvSpPr>
        <p:spPr>
          <a:xfrm>
            <a:off x="685800" y="2697479"/>
            <a:ext cx="3088538" cy="1280160"/>
          </a:xfrm>
          <a:prstGeom prst="roundRect">
            <a:avLst>
              <a:gd name="adj" fmla="val 5714"/>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60" y="2834639"/>
            <a:ext cx="2814218" cy="457200"/>
          </a:xfrm>
          <a:prstGeom prst="rect">
            <a:avLst/>
          </a:prstGeom>
          <a:noFill/>
        </p:spPr>
        <p:txBody>
          <a:bodyPr wrap="square" lIns="45720" tIns="18288" rIns="45720" bIns="18288" anchor="t">
            <a:spAutoFit/>
          </a:bodyPr>
          <a:lstStyle/>
          <a:p>
            <a:pPr algn="l"/>
            <a:r>
              <a:rPr sz="1300" b="1">
                <a:solidFill>
                  <a:srgbClr val="1C75C9"/>
                </a:solidFill>
                <a:latin typeface="Noto Sans KR"/>
              </a:rPr>
              <a:t>1과정 · AI 보안의 이해</a:t>
            </a:r>
          </a:p>
        </p:txBody>
      </p:sp>
      <p:sp>
        <p:nvSpPr>
          <p:cNvPr id="8" name="TextBox 7"/>
          <p:cNvSpPr txBox="1"/>
          <p:nvPr/>
        </p:nvSpPr>
        <p:spPr>
          <a:xfrm>
            <a:off x="822960" y="3328415"/>
            <a:ext cx="2814218" cy="557784"/>
          </a:xfrm>
          <a:prstGeom prst="rect">
            <a:avLst/>
          </a:prstGeom>
          <a:noFill/>
        </p:spPr>
        <p:txBody>
          <a:bodyPr wrap="square" lIns="45720" tIns="18288" rIns="45720" bIns="18288" anchor="t">
            <a:spAutoFit/>
          </a:bodyPr>
          <a:lstStyle/>
          <a:p>
            <a:pPr algn="l"/>
            <a:r>
              <a:rPr sz="1100" b="0">
                <a:solidFill>
                  <a:srgbClr val="475569"/>
                </a:solidFill>
                <a:latin typeface="Noto Sans KR"/>
              </a:rPr>
              <a:t>AI 원리·위협 모델링 · 프롬프트 인젝션 분석</a:t>
            </a:r>
          </a:p>
        </p:txBody>
      </p:sp>
      <p:sp>
        <p:nvSpPr>
          <p:cNvPr id="9" name="Rounded Rectangle 8"/>
          <p:cNvSpPr/>
          <p:nvPr/>
        </p:nvSpPr>
        <p:spPr>
          <a:xfrm>
            <a:off x="685800" y="4160520"/>
            <a:ext cx="3088538" cy="1280160"/>
          </a:xfrm>
          <a:prstGeom prst="roundRect">
            <a:avLst>
              <a:gd name="adj" fmla="val 5714"/>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22960" y="4297680"/>
            <a:ext cx="2814218" cy="457200"/>
          </a:xfrm>
          <a:prstGeom prst="rect">
            <a:avLst/>
          </a:prstGeom>
          <a:noFill/>
        </p:spPr>
        <p:txBody>
          <a:bodyPr wrap="square" lIns="45720" tIns="18288" rIns="45720" bIns="18288" anchor="t">
            <a:spAutoFit/>
          </a:bodyPr>
          <a:lstStyle/>
          <a:p>
            <a:pPr algn="l"/>
            <a:r>
              <a:rPr sz="1300" b="1">
                <a:solidFill>
                  <a:srgbClr val="1C75C9"/>
                </a:solidFill>
                <a:latin typeface="Noto Sans KR"/>
              </a:rPr>
              <a:t>2과정 · AI 보안업무 자동화·활용</a:t>
            </a:r>
          </a:p>
        </p:txBody>
      </p:sp>
      <p:sp>
        <p:nvSpPr>
          <p:cNvPr id="11" name="TextBox 10"/>
          <p:cNvSpPr txBox="1"/>
          <p:nvPr/>
        </p:nvSpPr>
        <p:spPr>
          <a:xfrm>
            <a:off x="822960" y="4791456"/>
            <a:ext cx="2814218" cy="557783"/>
          </a:xfrm>
          <a:prstGeom prst="rect">
            <a:avLst/>
          </a:prstGeom>
          <a:noFill/>
        </p:spPr>
        <p:txBody>
          <a:bodyPr wrap="square" lIns="45720" tIns="18288" rIns="45720" bIns="18288" anchor="t">
            <a:spAutoFit/>
          </a:bodyPr>
          <a:lstStyle/>
          <a:p>
            <a:pPr algn="l"/>
            <a:r>
              <a:rPr sz="1100" b="0">
                <a:solidFill>
                  <a:srgbClr val="475569"/>
                </a:solidFill>
                <a:latin typeface="Noto Sans KR"/>
              </a:rPr>
              <a:t>보안업무 자동화 · 안전한 개발환경 구축</a:t>
            </a:r>
          </a:p>
        </p:txBody>
      </p:sp>
      <p:sp>
        <p:nvSpPr>
          <p:cNvPr id="12" name="Rounded Rectangle 11"/>
          <p:cNvSpPr/>
          <p:nvPr/>
        </p:nvSpPr>
        <p:spPr>
          <a:xfrm>
            <a:off x="4322978" y="1691640"/>
            <a:ext cx="3545738" cy="4206240"/>
          </a:xfrm>
          <a:prstGeom prst="roundRect">
            <a:avLst>
              <a:gd name="adj" fmla="val 3094"/>
            </a:avLst>
          </a:prstGeom>
          <a:solidFill>
            <a:srgbClr val="E6F0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505858" y="1828800"/>
            <a:ext cx="3179978" cy="365760"/>
          </a:xfrm>
          <a:prstGeom prst="rect">
            <a:avLst/>
          </a:prstGeom>
          <a:noFill/>
        </p:spPr>
        <p:txBody>
          <a:bodyPr wrap="square" lIns="45720" tIns="18288" rIns="45720" bIns="18288" anchor="ctr">
            <a:spAutoFit/>
          </a:bodyPr>
          <a:lstStyle/>
          <a:p>
            <a:pPr algn="l"/>
            <a:r>
              <a:rPr sz="1200" b="1">
                <a:solidFill>
                  <a:srgbClr val="1C75C9"/>
                </a:solidFill>
                <a:latin typeface="Noto Sans KR"/>
              </a:rPr>
              <a:t>중급 · 지능형 보안 활용</a:t>
            </a:r>
          </a:p>
        </p:txBody>
      </p:sp>
      <p:sp>
        <p:nvSpPr>
          <p:cNvPr id="14" name="Rounded Rectangle 13"/>
          <p:cNvSpPr/>
          <p:nvPr/>
        </p:nvSpPr>
        <p:spPr>
          <a:xfrm>
            <a:off x="4551578" y="2240280"/>
            <a:ext cx="3088538" cy="1097280"/>
          </a:xfrm>
          <a:prstGeom prst="roundRect">
            <a:avLst>
              <a:gd name="adj" fmla="val 6666"/>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688738" y="2377440"/>
            <a:ext cx="2814218" cy="457200"/>
          </a:xfrm>
          <a:prstGeom prst="rect">
            <a:avLst/>
          </a:prstGeom>
          <a:noFill/>
        </p:spPr>
        <p:txBody>
          <a:bodyPr wrap="square" lIns="45720" tIns="18288" rIns="45720" bIns="18288" anchor="t">
            <a:spAutoFit/>
          </a:bodyPr>
          <a:lstStyle/>
          <a:p>
            <a:pPr algn="l"/>
            <a:r>
              <a:rPr sz="1300" b="1">
                <a:solidFill>
                  <a:srgbClr val="1C75C9"/>
                </a:solidFill>
                <a:latin typeface="Noto Sans KR"/>
              </a:rPr>
              <a:t>3과정 · 안전한 로컬 LLM 구축</a:t>
            </a:r>
          </a:p>
        </p:txBody>
      </p:sp>
      <p:sp>
        <p:nvSpPr>
          <p:cNvPr id="16" name="TextBox 15"/>
          <p:cNvSpPr txBox="1"/>
          <p:nvPr/>
        </p:nvSpPr>
        <p:spPr>
          <a:xfrm>
            <a:off x="4688738" y="2871216"/>
            <a:ext cx="2814218" cy="374904"/>
          </a:xfrm>
          <a:prstGeom prst="rect">
            <a:avLst/>
          </a:prstGeom>
          <a:noFill/>
        </p:spPr>
        <p:txBody>
          <a:bodyPr wrap="square" lIns="45720" tIns="18288" rIns="45720" bIns="18288" anchor="t">
            <a:spAutoFit/>
          </a:bodyPr>
          <a:lstStyle/>
          <a:p>
            <a:pPr algn="l"/>
            <a:r>
              <a:rPr sz="1100" b="0">
                <a:solidFill>
                  <a:srgbClr val="475569"/>
                </a:solidFill>
                <a:latin typeface="Noto Sans KR"/>
              </a:rPr>
              <a:t>온프레미스 sLLM · RAG·파인튜닝</a:t>
            </a:r>
          </a:p>
        </p:txBody>
      </p:sp>
      <p:sp>
        <p:nvSpPr>
          <p:cNvPr id="17" name="Rounded Rectangle 16"/>
          <p:cNvSpPr/>
          <p:nvPr/>
        </p:nvSpPr>
        <p:spPr>
          <a:xfrm>
            <a:off x="4551578" y="3520440"/>
            <a:ext cx="3088538" cy="1097280"/>
          </a:xfrm>
          <a:prstGeom prst="roundRect">
            <a:avLst>
              <a:gd name="adj" fmla="val 6666"/>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688738" y="3657600"/>
            <a:ext cx="2814218" cy="457200"/>
          </a:xfrm>
          <a:prstGeom prst="rect">
            <a:avLst/>
          </a:prstGeom>
          <a:noFill/>
        </p:spPr>
        <p:txBody>
          <a:bodyPr wrap="square" lIns="45720" tIns="18288" rIns="45720" bIns="18288" anchor="t">
            <a:spAutoFit/>
          </a:bodyPr>
          <a:lstStyle/>
          <a:p>
            <a:pPr algn="l"/>
            <a:r>
              <a:rPr sz="1200" b="1">
                <a:solidFill>
                  <a:srgbClr val="1C75C9"/>
                </a:solidFill>
                <a:latin typeface="Noto Sans KR"/>
              </a:rPr>
              <a:t>4과정 · 로컬 LLM 활용 사이버보안</a:t>
            </a:r>
          </a:p>
        </p:txBody>
      </p:sp>
      <p:sp>
        <p:nvSpPr>
          <p:cNvPr id="19" name="TextBox 18"/>
          <p:cNvSpPr txBox="1"/>
          <p:nvPr/>
        </p:nvSpPr>
        <p:spPr>
          <a:xfrm>
            <a:off x="4688738" y="4151376"/>
            <a:ext cx="2814218" cy="374904"/>
          </a:xfrm>
          <a:prstGeom prst="rect">
            <a:avLst/>
          </a:prstGeom>
          <a:noFill/>
        </p:spPr>
        <p:txBody>
          <a:bodyPr wrap="square" lIns="45720" tIns="18288" rIns="45720" bIns="18288" anchor="t">
            <a:spAutoFit/>
          </a:bodyPr>
          <a:lstStyle/>
          <a:p>
            <a:pPr algn="l"/>
            <a:r>
              <a:rPr sz="1100" b="0">
                <a:solidFill>
                  <a:srgbClr val="475569"/>
                </a:solidFill>
                <a:latin typeface="Noto Sans KR"/>
              </a:rPr>
              <a:t>ML 악성코드 분석 · SOAR/CTI 관제</a:t>
            </a:r>
          </a:p>
        </p:txBody>
      </p:sp>
      <p:sp>
        <p:nvSpPr>
          <p:cNvPr id="20" name="Rounded Rectangle 19"/>
          <p:cNvSpPr/>
          <p:nvPr/>
        </p:nvSpPr>
        <p:spPr>
          <a:xfrm>
            <a:off x="4551578" y="4800600"/>
            <a:ext cx="3088538" cy="1097280"/>
          </a:xfrm>
          <a:prstGeom prst="roundRect">
            <a:avLst>
              <a:gd name="adj" fmla="val 6666"/>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688738" y="4937760"/>
            <a:ext cx="2814218" cy="457200"/>
          </a:xfrm>
          <a:prstGeom prst="rect">
            <a:avLst/>
          </a:prstGeom>
          <a:noFill/>
        </p:spPr>
        <p:txBody>
          <a:bodyPr wrap="square" lIns="45720" tIns="18288" rIns="45720" bIns="18288" anchor="t">
            <a:spAutoFit/>
          </a:bodyPr>
          <a:lstStyle/>
          <a:p>
            <a:pPr algn="l"/>
            <a:r>
              <a:rPr sz="1200" b="1">
                <a:solidFill>
                  <a:srgbClr val="1C75C9"/>
                </a:solidFill>
                <a:latin typeface="Noto Sans KR"/>
              </a:rPr>
              <a:t>5과정 · Agentic AI(Mythos) 대응</a:t>
            </a:r>
          </a:p>
        </p:txBody>
      </p:sp>
      <p:sp>
        <p:nvSpPr>
          <p:cNvPr id="22" name="TextBox 21"/>
          <p:cNvSpPr txBox="1"/>
          <p:nvPr/>
        </p:nvSpPr>
        <p:spPr>
          <a:xfrm>
            <a:off x="4688738" y="5431536"/>
            <a:ext cx="2814218" cy="374903"/>
          </a:xfrm>
          <a:prstGeom prst="rect">
            <a:avLst/>
          </a:prstGeom>
          <a:noFill/>
        </p:spPr>
        <p:txBody>
          <a:bodyPr wrap="square" lIns="45720" tIns="18288" rIns="45720" bIns="18288" anchor="t">
            <a:spAutoFit/>
          </a:bodyPr>
          <a:lstStyle/>
          <a:p>
            <a:pPr algn="l"/>
            <a:r>
              <a:rPr sz="1100" b="0">
                <a:solidFill>
                  <a:srgbClr val="475569"/>
                </a:solidFill>
                <a:latin typeface="Noto Sans KR"/>
              </a:rPr>
              <a:t>자율해킹 분석 · 지능형 제로트러스트</a:t>
            </a:r>
          </a:p>
        </p:txBody>
      </p:sp>
      <p:sp>
        <p:nvSpPr>
          <p:cNvPr id="23" name="Rounded Rectangle 22"/>
          <p:cNvSpPr/>
          <p:nvPr/>
        </p:nvSpPr>
        <p:spPr>
          <a:xfrm>
            <a:off x="8188756" y="1691640"/>
            <a:ext cx="3545738" cy="4206240"/>
          </a:xfrm>
          <a:prstGeom prst="roundRect">
            <a:avLst>
              <a:gd name="adj" fmla="val 3094"/>
            </a:avLst>
          </a:prstGeom>
          <a:solidFill>
            <a:srgbClr val="E6F0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371636" y="1828800"/>
            <a:ext cx="3179978" cy="365760"/>
          </a:xfrm>
          <a:prstGeom prst="rect">
            <a:avLst/>
          </a:prstGeom>
          <a:noFill/>
        </p:spPr>
        <p:txBody>
          <a:bodyPr wrap="square" lIns="45720" tIns="18288" rIns="45720" bIns="18288" anchor="ctr">
            <a:spAutoFit/>
          </a:bodyPr>
          <a:lstStyle/>
          <a:p>
            <a:pPr algn="l"/>
            <a:r>
              <a:rPr sz="1200" b="1">
                <a:solidFill>
                  <a:srgbClr val="1C75C9"/>
                </a:solidFill>
                <a:latin typeface="Noto Sans KR"/>
              </a:rPr>
              <a:t>고급 · AI 심층 방어·회복</a:t>
            </a:r>
          </a:p>
        </p:txBody>
      </p:sp>
      <p:sp>
        <p:nvSpPr>
          <p:cNvPr id="25" name="Rounded Rectangle 24"/>
          <p:cNvSpPr/>
          <p:nvPr/>
        </p:nvSpPr>
        <p:spPr>
          <a:xfrm>
            <a:off x="8417356" y="2697479"/>
            <a:ext cx="3088538" cy="1280160"/>
          </a:xfrm>
          <a:prstGeom prst="roundRect">
            <a:avLst>
              <a:gd name="adj" fmla="val 5714"/>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554516" y="2834639"/>
            <a:ext cx="2814218" cy="457200"/>
          </a:xfrm>
          <a:prstGeom prst="rect">
            <a:avLst/>
          </a:prstGeom>
          <a:noFill/>
        </p:spPr>
        <p:txBody>
          <a:bodyPr wrap="square" lIns="45720" tIns="18288" rIns="45720" bIns="18288" anchor="t">
            <a:spAutoFit/>
          </a:bodyPr>
          <a:lstStyle/>
          <a:p>
            <a:pPr algn="l"/>
            <a:r>
              <a:rPr sz="1300" b="1">
                <a:solidFill>
                  <a:srgbClr val="1C75C9"/>
                </a:solidFill>
                <a:latin typeface="Noto Sans KR"/>
              </a:rPr>
              <a:t>6과정 · LLM 취약점 진단·방어</a:t>
            </a:r>
          </a:p>
        </p:txBody>
      </p:sp>
      <p:sp>
        <p:nvSpPr>
          <p:cNvPr id="27" name="TextBox 26"/>
          <p:cNvSpPr txBox="1"/>
          <p:nvPr/>
        </p:nvSpPr>
        <p:spPr>
          <a:xfrm>
            <a:off x="8554516" y="3328415"/>
            <a:ext cx="2814218" cy="557784"/>
          </a:xfrm>
          <a:prstGeom prst="rect">
            <a:avLst/>
          </a:prstGeom>
          <a:noFill/>
        </p:spPr>
        <p:txBody>
          <a:bodyPr wrap="square" lIns="45720" tIns="18288" rIns="45720" bIns="18288" anchor="t">
            <a:spAutoFit/>
          </a:bodyPr>
          <a:lstStyle/>
          <a:p>
            <a:pPr algn="l"/>
            <a:r>
              <a:rPr sz="1100" b="0">
                <a:solidFill>
                  <a:srgbClr val="475569"/>
                </a:solidFill>
                <a:latin typeface="Noto Sans KR"/>
              </a:rPr>
              <a:t>OWASP LLM Top10 레드티밍 · 가드레일</a:t>
            </a:r>
          </a:p>
        </p:txBody>
      </p:sp>
      <p:sp>
        <p:nvSpPr>
          <p:cNvPr id="28" name="Rounded Rectangle 27"/>
          <p:cNvSpPr/>
          <p:nvPr/>
        </p:nvSpPr>
        <p:spPr>
          <a:xfrm>
            <a:off x="8417356" y="4160520"/>
            <a:ext cx="3088538" cy="1280160"/>
          </a:xfrm>
          <a:prstGeom prst="roundRect">
            <a:avLst>
              <a:gd name="adj" fmla="val 5714"/>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554516" y="4297680"/>
            <a:ext cx="2814218" cy="457200"/>
          </a:xfrm>
          <a:prstGeom prst="rect">
            <a:avLst/>
          </a:prstGeom>
          <a:noFill/>
        </p:spPr>
        <p:txBody>
          <a:bodyPr wrap="square" lIns="45720" tIns="18288" rIns="45720" bIns="18288" anchor="t">
            <a:spAutoFit/>
          </a:bodyPr>
          <a:lstStyle/>
          <a:p>
            <a:pPr algn="l"/>
            <a:r>
              <a:rPr sz="1300" b="1">
                <a:solidFill>
                  <a:srgbClr val="1C75C9"/>
                </a:solidFill>
                <a:latin typeface="Noto Sans KR"/>
              </a:rPr>
              <a:t>7과정 · AI 침해대응 및 복구</a:t>
            </a:r>
          </a:p>
        </p:txBody>
      </p:sp>
      <p:sp>
        <p:nvSpPr>
          <p:cNvPr id="30" name="TextBox 29"/>
          <p:cNvSpPr txBox="1"/>
          <p:nvPr/>
        </p:nvSpPr>
        <p:spPr>
          <a:xfrm>
            <a:off x="8554516" y="4791456"/>
            <a:ext cx="2814218" cy="557783"/>
          </a:xfrm>
          <a:prstGeom prst="rect">
            <a:avLst/>
          </a:prstGeom>
          <a:noFill/>
        </p:spPr>
        <p:txBody>
          <a:bodyPr wrap="square" lIns="45720" tIns="18288" rIns="45720" bIns="18288" anchor="t">
            <a:spAutoFit/>
          </a:bodyPr>
          <a:lstStyle/>
          <a:p>
            <a:pPr algn="l"/>
            <a:r>
              <a:rPr sz="1100" b="0">
                <a:solidFill>
                  <a:srgbClr val="475569"/>
                </a:solidFill>
                <a:latin typeface="Noto Sans KR"/>
              </a:rPr>
              <a:t>적대적 침해 탐지 · 모델 포렌식·회복</a:t>
            </a:r>
          </a:p>
        </p:txBody>
      </p:sp>
      <p:sp>
        <p:nvSpPr>
          <p:cNvPr id="31" name="Right Arrow 30"/>
          <p:cNvSpPr/>
          <p:nvPr/>
        </p:nvSpPr>
        <p:spPr>
          <a:xfrm>
            <a:off x="4039514" y="3703320"/>
            <a:ext cx="228599" cy="18288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ight Arrow 31"/>
          <p:cNvSpPr/>
          <p:nvPr/>
        </p:nvSpPr>
        <p:spPr>
          <a:xfrm>
            <a:off x="7905292" y="3703320"/>
            <a:ext cx="228599" cy="18288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11734495" y="6492240"/>
            <a:ext cx="365760" cy="228600"/>
          </a:xfrm>
          <a:prstGeom prst="rect">
            <a:avLst/>
          </a:prstGeom>
          <a:noFill/>
        </p:spPr>
        <p:txBody>
          <a:bodyPr wrap="square" lIns="45720" tIns="18288" rIns="45720" bIns="18288" anchor="t">
            <a:spAutoFit/>
          </a:bodyPr>
          <a:lstStyle/>
          <a:p>
            <a:pPr algn="r"/>
            <a:r>
              <a:rPr sz="900" b="0">
                <a:solidFill>
                  <a:srgbClr val="94A3B8"/>
                </a:solidFill>
                <a:latin typeface="Noto Sans KR"/>
              </a:rPr>
              <a:t>1</a:t>
            </a:r>
          </a:p>
        </p:txBody>
      </p:sp>
      <p:sp>
        <p:nvSpPr>
          <p:cNvPr id="34" name="Rounded Rectangle 33"/>
          <p:cNvSpPr/>
          <p:nvPr/>
        </p:nvSpPr>
        <p:spPr>
          <a:xfrm>
            <a:off x="457200" y="5989320"/>
            <a:ext cx="11277295" cy="457200"/>
          </a:xfrm>
          <a:prstGeom prst="roundRect">
            <a:avLst>
              <a:gd name="adj" fmla="val 12000"/>
            </a:avLst>
          </a:prstGeom>
          <a:solidFill>
            <a:srgbClr val="0E5AA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ectangle 34"/>
          <p:cNvSpPr/>
          <p:nvPr/>
        </p:nvSpPr>
        <p:spPr>
          <a:xfrm>
            <a:off x="457200" y="5989320"/>
            <a:ext cx="73152" cy="457200"/>
          </a:xfrm>
          <a:prstGeom prst="rect">
            <a:avLst/>
          </a:prstGeom>
          <a:solidFill>
            <a:srgbClr val="1E7ED4"/>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731520" y="5989320"/>
            <a:ext cx="10728655" cy="457200"/>
          </a:xfrm>
          <a:prstGeom prst="rect">
            <a:avLst/>
          </a:prstGeom>
          <a:noFill/>
        </p:spPr>
        <p:txBody>
          <a:bodyPr wrap="square" lIns="45720" tIns="18288" rIns="45720" bIns="18288" anchor="ctr">
            <a:spAutoFit/>
          </a:bodyPr>
          <a:lstStyle/>
          <a:p>
            <a:pPr algn="ctr"/>
            <a:r>
              <a:rPr sz="1400" b="1">
                <a:solidFill>
                  <a:srgbClr val="FFFFFF"/>
                </a:solidFill>
                <a:latin typeface="Noto Sans KR"/>
              </a:rPr>
              <a:t>단순 AI 사용자가 아닌 「AI를 활용하는 사이버보안 전문 인력」 양성 체계로 전환</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512064"/>
            <a:ext cx="10893247" cy="731520"/>
          </a:xfrm>
          <a:prstGeom prst="rect">
            <a:avLst/>
          </a:prstGeom>
          <a:noFill/>
        </p:spPr>
        <p:txBody>
          <a:bodyPr wrap="square" lIns="45720" tIns="18288" rIns="45720" bIns="18288" anchor="t">
            <a:spAutoFit/>
          </a:bodyPr>
          <a:lstStyle/>
          <a:p>
            <a:pPr algn="l"/>
            <a:r>
              <a:rPr sz="2700" b="1">
                <a:solidFill>
                  <a:srgbClr val="1B2330"/>
                </a:solidFill>
                <a:latin typeface="Noto Sans KR"/>
              </a:rPr>
              <a:t>취약점 진단 과정의 AI 접목 — 6차시 학습 여정</a:t>
            </a:r>
          </a:p>
        </p:txBody>
      </p:sp>
      <p:sp>
        <p:nvSpPr>
          <p:cNvPr id="3" name="TextBox 2"/>
          <p:cNvSpPr txBox="1"/>
          <p:nvPr/>
        </p:nvSpPr>
        <p:spPr>
          <a:xfrm>
            <a:off x="676656" y="1188720"/>
            <a:ext cx="10820095" cy="365760"/>
          </a:xfrm>
          <a:prstGeom prst="rect">
            <a:avLst/>
          </a:prstGeom>
          <a:noFill/>
        </p:spPr>
        <p:txBody>
          <a:bodyPr wrap="square" lIns="45720" tIns="18288" rIns="45720" bIns="18288" anchor="t">
            <a:spAutoFit/>
          </a:bodyPr>
          <a:lstStyle/>
          <a:p>
            <a:pPr algn="l"/>
            <a:r>
              <a:rPr sz="1300" b="0">
                <a:solidFill>
                  <a:srgbClr val="5B6470"/>
                </a:solidFill>
                <a:latin typeface="Noto Sans KR"/>
              </a:rPr>
              <a:t>기존 취약점 진단 실무 과정에 AI를 단계적으로 접목한 사례</a:t>
            </a:r>
          </a:p>
        </p:txBody>
      </p:sp>
      <p:sp>
        <p:nvSpPr>
          <p:cNvPr id="4" name="Rounded Rectangle 3"/>
          <p:cNvSpPr/>
          <p:nvPr/>
        </p:nvSpPr>
        <p:spPr>
          <a:xfrm>
            <a:off x="365760" y="1828800"/>
            <a:ext cx="1833829" cy="2194560"/>
          </a:xfrm>
          <a:prstGeom prst="roundRect">
            <a:avLst>
              <a:gd name="adj" fmla="val 3989"/>
            </a:avLst>
          </a:prstGeom>
          <a:solidFill>
            <a:srgbClr val="FFFFFF"/>
          </a:solidFill>
          <a:ln w="19050">
            <a:solidFill>
              <a:srgbClr val="1C75C9"/>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ounded Rectangle 4"/>
          <p:cNvSpPr/>
          <p:nvPr/>
        </p:nvSpPr>
        <p:spPr>
          <a:xfrm>
            <a:off x="512064" y="2011680"/>
            <a:ext cx="402336" cy="402336"/>
          </a:xfrm>
          <a:prstGeom prst="roundRect">
            <a:avLst>
              <a:gd name="adj" fmla="val 15000"/>
            </a:avLst>
          </a:prstGeom>
          <a:solidFill>
            <a:srgbClr val="1C75C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12064" y="2011680"/>
            <a:ext cx="402336" cy="402336"/>
          </a:xfrm>
          <a:prstGeom prst="rect">
            <a:avLst/>
          </a:prstGeom>
          <a:noFill/>
        </p:spPr>
        <p:txBody>
          <a:bodyPr wrap="square" lIns="45720" tIns="18288" rIns="45720" bIns="18288" anchor="ctr">
            <a:spAutoFit/>
          </a:bodyPr>
          <a:lstStyle/>
          <a:p>
            <a:pPr algn="ctr"/>
            <a:r>
              <a:rPr sz="1300" b="1">
                <a:solidFill>
                  <a:srgbClr val="FFFFFF"/>
                </a:solidFill>
                <a:latin typeface="Noto Sans KR"/>
              </a:rPr>
              <a:t>01</a:t>
            </a:r>
          </a:p>
        </p:txBody>
      </p:sp>
      <p:sp>
        <p:nvSpPr>
          <p:cNvPr id="7" name="TextBox 6"/>
          <p:cNvSpPr txBox="1"/>
          <p:nvPr/>
        </p:nvSpPr>
        <p:spPr>
          <a:xfrm>
            <a:off x="512064" y="2505456"/>
            <a:ext cx="1559509" cy="365760"/>
          </a:xfrm>
          <a:prstGeom prst="rect">
            <a:avLst/>
          </a:prstGeom>
          <a:noFill/>
        </p:spPr>
        <p:txBody>
          <a:bodyPr wrap="square" lIns="45720" tIns="18288" rIns="45720" bIns="18288" anchor="t">
            <a:spAutoFit/>
          </a:bodyPr>
          <a:lstStyle/>
          <a:p>
            <a:pPr algn="l"/>
            <a:r>
              <a:rPr sz="1300" b="1">
                <a:solidFill>
                  <a:srgbClr val="1E293B"/>
                </a:solidFill>
                <a:latin typeface="Noto Sans KR"/>
              </a:rPr>
              <a:t>AI 선정 &amp; 친숙화</a:t>
            </a:r>
          </a:p>
        </p:txBody>
      </p:sp>
      <p:sp>
        <p:nvSpPr>
          <p:cNvPr id="8" name="TextBox 7"/>
          <p:cNvSpPr txBox="1"/>
          <p:nvPr/>
        </p:nvSpPr>
        <p:spPr>
          <a:xfrm>
            <a:off x="502920" y="2889504"/>
            <a:ext cx="1559509" cy="713232"/>
          </a:xfrm>
          <a:prstGeom prst="rect">
            <a:avLst/>
          </a:prstGeom>
          <a:noFill/>
        </p:spPr>
        <p:txBody>
          <a:bodyPr wrap="square" lIns="45720" tIns="18288" rIns="45720" bIns="18288" anchor="ctr">
            <a:spAutoFit/>
          </a:bodyPr>
          <a:lstStyle/>
          <a:p>
            <a:pPr algn="l">
              <a:lnSpc>
                <a:spcPct val="125000"/>
              </a:lnSpc>
            </a:pPr>
            <a:r>
              <a:rPr sz="1200" b="0">
                <a:solidFill>
                  <a:srgbClr val="475569"/>
                </a:solidFill>
                <a:latin typeface="Noto Sans KR"/>
              </a:rPr>
              <a:t>AI 어시스턴트 친숙화
프롬프트 기초 습득</a:t>
            </a:r>
          </a:p>
        </p:txBody>
      </p:sp>
      <p:sp>
        <p:nvSpPr>
          <p:cNvPr id="9" name="Rounded Rectangle 8"/>
          <p:cNvSpPr/>
          <p:nvPr/>
        </p:nvSpPr>
        <p:spPr>
          <a:xfrm>
            <a:off x="2291029" y="1828800"/>
            <a:ext cx="1833829" cy="2194560"/>
          </a:xfrm>
          <a:prstGeom prst="roundRect">
            <a:avLst>
              <a:gd name="adj" fmla="val 3989"/>
            </a:avLst>
          </a:prstGeom>
          <a:solidFill>
            <a:srgbClr val="FFFFFF"/>
          </a:solidFill>
          <a:ln w="19050">
            <a:solidFill>
              <a:srgbClr val="1C75C9"/>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ounded Rectangle 9"/>
          <p:cNvSpPr/>
          <p:nvPr/>
        </p:nvSpPr>
        <p:spPr>
          <a:xfrm>
            <a:off x="2437333" y="2011680"/>
            <a:ext cx="402336" cy="402336"/>
          </a:xfrm>
          <a:prstGeom prst="roundRect">
            <a:avLst>
              <a:gd name="adj" fmla="val 15000"/>
            </a:avLst>
          </a:prstGeom>
          <a:solidFill>
            <a:srgbClr val="1C75C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437333" y="2011680"/>
            <a:ext cx="402336" cy="402336"/>
          </a:xfrm>
          <a:prstGeom prst="rect">
            <a:avLst/>
          </a:prstGeom>
          <a:noFill/>
        </p:spPr>
        <p:txBody>
          <a:bodyPr wrap="square" lIns="45720" tIns="18288" rIns="45720" bIns="18288" anchor="ctr">
            <a:spAutoFit/>
          </a:bodyPr>
          <a:lstStyle/>
          <a:p>
            <a:pPr algn="ctr"/>
            <a:r>
              <a:rPr sz="1300" b="1">
                <a:solidFill>
                  <a:srgbClr val="FFFFFF"/>
                </a:solidFill>
                <a:latin typeface="Noto Sans KR"/>
              </a:rPr>
              <a:t>02</a:t>
            </a:r>
          </a:p>
        </p:txBody>
      </p:sp>
      <p:sp>
        <p:nvSpPr>
          <p:cNvPr id="12" name="TextBox 11"/>
          <p:cNvSpPr txBox="1"/>
          <p:nvPr/>
        </p:nvSpPr>
        <p:spPr>
          <a:xfrm>
            <a:off x="2437333" y="2505456"/>
            <a:ext cx="1559509" cy="365760"/>
          </a:xfrm>
          <a:prstGeom prst="rect">
            <a:avLst/>
          </a:prstGeom>
          <a:noFill/>
        </p:spPr>
        <p:txBody>
          <a:bodyPr wrap="square" lIns="45720" tIns="18288" rIns="45720" bIns="18288" anchor="t">
            <a:spAutoFit/>
          </a:bodyPr>
          <a:lstStyle/>
          <a:p>
            <a:pPr algn="l"/>
            <a:r>
              <a:rPr sz="1500" b="1">
                <a:solidFill>
                  <a:srgbClr val="1E293B"/>
                </a:solidFill>
                <a:latin typeface="Noto Sans KR"/>
              </a:rPr>
              <a:t>웹 취약점 기초</a:t>
            </a:r>
          </a:p>
        </p:txBody>
      </p:sp>
      <p:sp>
        <p:nvSpPr>
          <p:cNvPr id="13" name="TextBox 12"/>
          <p:cNvSpPr txBox="1"/>
          <p:nvPr/>
        </p:nvSpPr>
        <p:spPr>
          <a:xfrm>
            <a:off x="2428189" y="2889504"/>
            <a:ext cx="1559509" cy="713232"/>
          </a:xfrm>
          <a:prstGeom prst="rect">
            <a:avLst/>
          </a:prstGeom>
          <a:noFill/>
        </p:spPr>
        <p:txBody>
          <a:bodyPr wrap="square" lIns="45720" tIns="18288" rIns="45720" bIns="18288" anchor="ctr">
            <a:spAutoFit/>
          </a:bodyPr>
          <a:lstStyle/>
          <a:p>
            <a:pPr algn="l">
              <a:lnSpc>
                <a:spcPct val="125000"/>
              </a:lnSpc>
            </a:pPr>
            <a:r>
              <a:rPr sz="1200" b="0">
                <a:solidFill>
                  <a:srgbClr val="475569"/>
                </a:solidFill>
                <a:latin typeface="Noto Sans KR"/>
              </a:rPr>
              <a:t>SQL Injection · XSS
공격 원리 학습</a:t>
            </a:r>
          </a:p>
        </p:txBody>
      </p:sp>
      <p:sp>
        <p:nvSpPr>
          <p:cNvPr id="14" name="Rounded Rectangle 13"/>
          <p:cNvSpPr/>
          <p:nvPr/>
        </p:nvSpPr>
        <p:spPr>
          <a:xfrm>
            <a:off x="4216298" y="1828800"/>
            <a:ext cx="1833829" cy="2194560"/>
          </a:xfrm>
          <a:prstGeom prst="roundRect">
            <a:avLst>
              <a:gd name="adj" fmla="val 3989"/>
            </a:avLst>
          </a:prstGeom>
          <a:solidFill>
            <a:srgbClr val="FFFFFF"/>
          </a:solidFill>
          <a:ln w="19050">
            <a:solidFill>
              <a:srgbClr val="1C75C9"/>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4362602" y="2011680"/>
            <a:ext cx="402336" cy="402336"/>
          </a:xfrm>
          <a:prstGeom prst="roundRect">
            <a:avLst>
              <a:gd name="adj" fmla="val 15000"/>
            </a:avLst>
          </a:prstGeom>
          <a:solidFill>
            <a:srgbClr val="1C75C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362602" y="2011680"/>
            <a:ext cx="402336" cy="402336"/>
          </a:xfrm>
          <a:prstGeom prst="rect">
            <a:avLst/>
          </a:prstGeom>
          <a:noFill/>
        </p:spPr>
        <p:txBody>
          <a:bodyPr wrap="square" lIns="45720" tIns="18288" rIns="45720" bIns="18288" anchor="ctr">
            <a:spAutoFit/>
          </a:bodyPr>
          <a:lstStyle/>
          <a:p>
            <a:pPr algn="ctr"/>
            <a:r>
              <a:rPr sz="1300" b="1">
                <a:solidFill>
                  <a:srgbClr val="FFFFFF"/>
                </a:solidFill>
                <a:latin typeface="Noto Sans KR"/>
              </a:rPr>
              <a:t>03</a:t>
            </a:r>
          </a:p>
        </p:txBody>
      </p:sp>
      <p:sp>
        <p:nvSpPr>
          <p:cNvPr id="17" name="TextBox 16"/>
          <p:cNvSpPr txBox="1"/>
          <p:nvPr/>
        </p:nvSpPr>
        <p:spPr>
          <a:xfrm>
            <a:off x="4362602" y="2505456"/>
            <a:ext cx="1559509" cy="365760"/>
          </a:xfrm>
          <a:prstGeom prst="rect">
            <a:avLst/>
          </a:prstGeom>
          <a:noFill/>
        </p:spPr>
        <p:txBody>
          <a:bodyPr wrap="square" lIns="45720" tIns="18288" rIns="45720" bIns="18288" anchor="t">
            <a:spAutoFit/>
          </a:bodyPr>
          <a:lstStyle/>
          <a:p>
            <a:pPr algn="l"/>
            <a:r>
              <a:rPr sz="1200" b="1">
                <a:solidFill>
                  <a:srgbClr val="1E293B"/>
                </a:solidFill>
                <a:latin typeface="Noto Sans KR"/>
              </a:rPr>
              <a:t>정보 수집 (Recon)</a:t>
            </a:r>
          </a:p>
        </p:txBody>
      </p:sp>
      <p:sp>
        <p:nvSpPr>
          <p:cNvPr id="18" name="TextBox 17"/>
          <p:cNvSpPr txBox="1"/>
          <p:nvPr/>
        </p:nvSpPr>
        <p:spPr>
          <a:xfrm>
            <a:off x="4353458" y="2889504"/>
            <a:ext cx="1559509" cy="713232"/>
          </a:xfrm>
          <a:prstGeom prst="rect">
            <a:avLst/>
          </a:prstGeom>
          <a:noFill/>
        </p:spPr>
        <p:txBody>
          <a:bodyPr wrap="square" lIns="45720" tIns="18288" rIns="45720" bIns="18288" anchor="ctr">
            <a:spAutoFit/>
          </a:bodyPr>
          <a:lstStyle/>
          <a:p>
            <a:pPr algn="l">
              <a:lnSpc>
                <a:spcPct val="125000"/>
              </a:lnSpc>
            </a:pPr>
            <a:r>
              <a:rPr sz="1200" b="0">
                <a:solidFill>
                  <a:srgbClr val="475569"/>
                </a:solidFill>
                <a:latin typeface="Noto Sans KR"/>
              </a:rPr>
              <a:t>OSINT · Dirsearch
AI에 줄 단서 수집</a:t>
            </a:r>
          </a:p>
        </p:txBody>
      </p:sp>
      <p:sp>
        <p:nvSpPr>
          <p:cNvPr id="19" name="Rounded Rectangle 18"/>
          <p:cNvSpPr/>
          <p:nvPr/>
        </p:nvSpPr>
        <p:spPr>
          <a:xfrm>
            <a:off x="6141567" y="1828800"/>
            <a:ext cx="1833829" cy="2194560"/>
          </a:xfrm>
          <a:prstGeom prst="roundRect">
            <a:avLst>
              <a:gd name="adj" fmla="val 3989"/>
            </a:avLst>
          </a:prstGeom>
          <a:solidFill>
            <a:srgbClr val="FFFFFF"/>
          </a:solidFill>
          <a:ln w="19050">
            <a:solidFill>
              <a:srgbClr val="1C75C9"/>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6287871" y="2011680"/>
            <a:ext cx="402336" cy="402336"/>
          </a:xfrm>
          <a:prstGeom prst="roundRect">
            <a:avLst>
              <a:gd name="adj" fmla="val 15000"/>
            </a:avLst>
          </a:prstGeom>
          <a:solidFill>
            <a:srgbClr val="1C75C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287871" y="2011680"/>
            <a:ext cx="402336" cy="402336"/>
          </a:xfrm>
          <a:prstGeom prst="rect">
            <a:avLst/>
          </a:prstGeom>
          <a:noFill/>
        </p:spPr>
        <p:txBody>
          <a:bodyPr wrap="square" lIns="45720" tIns="18288" rIns="45720" bIns="18288" anchor="ctr">
            <a:spAutoFit/>
          </a:bodyPr>
          <a:lstStyle/>
          <a:p>
            <a:pPr algn="ctr"/>
            <a:r>
              <a:rPr sz="1300" b="1">
                <a:solidFill>
                  <a:srgbClr val="FFFFFF"/>
                </a:solidFill>
                <a:latin typeface="Noto Sans KR"/>
              </a:rPr>
              <a:t>04</a:t>
            </a:r>
          </a:p>
        </p:txBody>
      </p:sp>
      <p:sp>
        <p:nvSpPr>
          <p:cNvPr id="22" name="TextBox 21"/>
          <p:cNvSpPr txBox="1"/>
          <p:nvPr/>
        </p:nvSpPr>
        <p:spPr>
          <a:xfrm>
            <a:off x="6287871" y="2505456"/>
            <a:ext cx="1559509" cy="365760"/>
          </a:xfrm>
          <a:prstGeom prst="rect">
            <a:avLst/>
          </a:prstGeom>
          <a:noFill/>
        </p:spPr>
        <p:txBody>
          <a:bodyPr wrap="square" lIns="45720" tIns="18288" rIns="45720" bIns="18288" anchor="t">
            <a:spAutoFit/>
          </a:bodyPr>
          <a:lstStyle/>
          <a:p>
            <a:pPr algn="l"/>
            <a:r>
              <a:rPr sz="1200" b="1">
                <a:solidFill>
                  <a:srgbClr val="1E293B"/>
                </a:solidFill>
                <a:latin typeface="Noto Sans KR"/>
              </a:rPr>
              <a:t>정보 없이 AI 던지기</a:t>
            </a:r>
          </a:p>
        </p:txBody>
      </p:sp>
      <p:sp>
        <p:nvSpPr>
          <p:cNvPr id="23" name="TextBox 22"/>
          <p:cNvSpPr txBox="1"/>
          <p:nvPr/>
        </p:nvSpPr>
        <p:spPr>
          <a:xfrm>
            <a:off x="6278727" y="2889504"/>
            <a:ext cx="1559509" cy="713232"/>
          </a:xfrm>
          <a:prstGeom prst="rect">
            <a:avLst/>
          </a:prstGeom>
          <a:noFill/>
        </p:spPr>
        <p:txBody>
          <a:bodyPr wrap="square" lIns="45720" tIns="18288" rIns="45720" bIns="18288" anchor="ctr">
            <a:spAutoFit/>
          </a:bodyPr>
          <a:lstStyle/>
          <a:p>
            <a:pPr algn="l">
              <a:lnSpc>
                <a:spcPct val="125000"/>
              </a:lnSpc>
            </a:pPr>
            <a:r>
              <a:rPr sz="1200" b="0">
                <a:solidFill>
                  <a:srgbClr val="475569"/>
                </a:solidFill>
                <a:latin typeface="Noto Sans KR"/>
              </a:rPr>
              <a:t>URL만 주고
AI 자율 탐색 관찰</a:t>
            </a:r>
          </a:p>
        </p:txBody>
      </p:sp>
      <p:sp>
        <p:nvSpPr>
          <p:cNvPr id="24" name="TextBox 23"/>
          <p:cNvSpPr txBox="1"/>
          <p:nvPr/>
        </p:nvSpPr>
        <p:spPr>
          <a:xfrm>
            <a:off x="6278727" y="3639312"/>
            <a:ext cx="1559509" cy="292608"/>
          </a:xfrm>
          <a:prstGeom prst="rect">
            <a:avLst/>
          </a:prstGeom>
          <a:noFill/>
        </p:spPr>
        <p:txBody>
          <a:bodyPr wrap="square" lIns="45720" tIns="18288" rIns="45720" bIns="18288" anchor="ctr">
            <a:spAutoFit/>
          </a:bodyPr>
          <a:lstStyle/>
          <a:p>
            <a:pPr algn="l"/>
            <a:r>
              <a:rPr sz="1000" b="1">
                <a:solidFill>
                  <a:srgbClr val="1C75C9"/>
                </a:solidFill>
                <a:latin typeface="Noto Sans KR"/>
              </a:rPr>
              <a:t>정보 없음 (Zero-info)</a:t>
            </a:r>
          </a:p>
        </p:txBody>
      </p:sp>
      <p:sp>
        <p:nvSpPr>
          <p:cNvPr id="25" name="Rounded Rectangle 24"/>
          <p:cNvSpPr/>
          <p:nvPr/>
        </p:nvSpPr>
        <p:spPr>
          <a:xfrm>
            <a:off x="8066836" y="1828800"/>
            <a:ext cx="1833829" cy="2194560"/>
          </a:xfrm>
          <a:prstGeom prst="roundRect">
            <a:avLst>
              <a:gd name="adj" fmla="val 3989"/>
            </a:avLst>
          </a:prstGeom>
          <a:solidFill>
            <a:srgbClr val="FFFFFF"/>
          </a:solidFill>
          <a:ln w="19050">
            <a:solidFill>
              <a:srgbClr val="1C75C9"/>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ounded Rectangle 25"/>
          <p:cNvSpPr/>
          <p:nvPr/>
        </p:nvSpPr>
        <p:spPr>
          <a:xfrm>
            <a:off x="8213140" y="2011680"/>
            <a:ext cx="402336" cy="402336"/>
          </a:xfrm>
          <a:prstGeom prst="roundRect">
            <a:avLst>
              <a:gd name="adj" fmla="val 15000"/>
            </a:avLst>
          </a:prstGeom>
          <a:solidFill>
            <a:srgbClr val="1C75C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213140" y="2011680"/>
            <a:ext cx="402336" cy="402336"/>
          </a:xfrm>
          <a:prstGeom prst="rect">
            <a:avLst/>
          </a:prstGeom>
          <a:noFill/>
        </p:spPr>
        <p:txBody>
          <a:bodyPr wrap="square" lIns="45720" tIns="18288" rIns="45720" bIns="18288" anchor="ctr">
            <a:spAutoFit/>
          </a:bodyPr>
          <a:lstStyle/>
          <a:p>
            <a:pPr algn="ctr"/>
            <a:r>
              <a:rPr sz="1300" b="1">
                <a:solidFill>
                  <a:srgbClr val="FFFFFF"/>
                </a:solidFill>
                <a:latin typeface="Noto Sans KR"/>
              </a:rPr>
              <a:t>05</a:t>
            </a:r>
          </a:p>
        </p:txBody>
      </p:sp>
      <p:sp>
        <p:nvSpPr>
          <p:cNvPr id="28" name="TextBox 27"/>
          <p:cNvSpPr txBox="1"/>
          <p:nvPr/>
        </p:nvSpPr>
        <p:spPr>
          <a:xfrm>
            <a:off x="8213140" y="2505456"/>
            <a:ext cx="1559509" cy="365760"/>
          </a:xfrm>
          <a:prstGeom prst="rect">
            <a:avLst/>
          </a:prstGeom>
          <a:noFill/>
        </p:spPr>
        <p:txBody>
          <a:bodyPr wrap="square" lIns="45720" tIns="18288" rIns="45720" bIns="18288" anchor="t">
            <a:spAutoFit/>
          </a:bodyPr>
          <a:lstStyle/>
          <a:p>
            <a:pPr algn="l"/>
            <a:r>
              <a:rPr sz="1200" b="1">
                <a:solidFill>
                  <a:srgbClr val="1E293B"/>
                </a:solidFill>
                <a:latin typeface="Noto Sans KR"/>
              </a:rPr>
              <a:t>정보 풍부한 AI 활용</a:t>
            </a:r>
          </a:p>
        </p:txBody>
      </p:sp>
      <p:sp>
        <p:nvSpPr>
          <p:cNvPr id="29" name="TextBox 28"/>
          <p:cNvSpPr txBox="1"/>
          <p:nvPr/>
        </p:nvSpPr>
        <p:spPr>
          <a:xfrm>
            <a:off x="8203996" y="2889504"/>
            <a:ext cx="1559509" cy="713232"/>
          </a:xfrm>
          <a:prstGeom prst="rect">
            <a:avLst/>
          </a:prstGeom>
          <a:noFill/>
        </p:spPr>
        <p:txBody>
          <a:bodyPr wrap="square" lIns="45720" tIns="18288" rIns="45720" bIns="18288" anchor="ctr">
            <a:spAutoFit/>
          </a:bodyPr>
          <a:lstStyle/>
          <a:p>
            <a:pPr algn="l">
              <a:lnSpc>
                <a:spcPct val="125000"/>
              </a:lnSpc>
            </a:pPr>
            <a:r>
              <a:rPr sz="1200" b="0">
                <a:solidFill>
                  <a:srgbClr val="475569"/>
                </a:solidFill>
                <a:latin typeface="Noto Sans KR"/>
              </a:rPr>
              <a:t>가공 단서로
AI 진단 실력 극대화</a:t>
            </a:r>
          </a:p>
        </p:txBody>
      </p:sp>
      <p:sp>
        <p:nvSpPr>
          <p:cNvPr id="30" name="TextBox 29"/>
          <p:cNvSpPr txBox="1"/>
          <p:nvPr/>
        </p:nvSpPr>
        <p:spPr>
          <a:xfrm>
            <a:off x="8203996" y="3639312"/>
            <a:ext cx="1559509" cy="292608"/>
          </a:xfrm>
          <a:prstGeom prst="rect">
            <a:avLst/>
          </a:prstGeom>
          <a:noFill/>
        </p:spPr>
        <p:txBody>
          <a:bodyPr wrap="square" lIns="45720" tIns="18288" rIns="45720" bIns="18288" anchor="ctr">
            <a:spAutoFit/>
          </a:bodyPr>
          <a:lstStyle/>
          <a:p>
            <a:pPr algn="l"/>
            <a:r>
              <a:rPr sz="1000" b="1">
                <a:solidFill>
                  <a:srgbClr val="1C75C9"/>
                </a:solidFill>
                <a:latin typeface="Noto Sans KR"/>
              </a:rPr>
              <a:t>정보 풍부 (Full-info)</a:t>
            </a:r>
          </a:p>
        </p:txBody>
      </p:sp>
      <p:sp>
        <p:nvSpPr>
          <p:cNvPr id="31" name="Rounded Rectangle 30"/>
          <p:cNvSpPr/>
          <p:nvPr/>
        </p:nvSpPr>
        <p:spPr>
          <a:xfrm>
            <a:off x="9992106" y="1828800"/>
            <a:ext cx="1833829" cy="2194560"/>
          </a:xfrm>
          <a:prstGeom prst="roundRect">
            <a:avLst>
              <a:gd name="adj" fmla="val 3989"/>
            </a:avLst>
          </a:prstGeom>
          <a:solidFill>
            <a:srgbClr val="FFFFFF"/>
          </a:solidFill>
          <a:ln w="19050">
            <a:solidFill>
              <a:srgbClr val="1C75C9"/>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ounded Rectangle 31"/>
          <p:cNvSpPr/>
          <p:nvPr/>
        </p:nvSpPr>
        <p:spPr>
          <a:xfrm>
            <a:off x="10138410" y="2011680"/>
            <a:ext cx="402336" cy="402336"/>
          </a:xfrm>
          <a:prstGeom prst="roundRect">
            <a:avLst>
              <a:gd name="adj" fmla="val 15000"/>
            </a:avLst>
          </a:prstGeom>
          <a:solidFill>
            <a:srgbClr val="1C75C9"/>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10138410" y="2011680"/>
            <a:ext cx="402336" cy="402336"/>
          </a:xfrm>
          <a:prstGeom prst="rect">
            <a:avLst/>
          </a:prstGeom>
          <a:noFill/>
        </p:spPr>
        <p:txBody>
          <a:bodyPr wrap="square" lIns="45720" tIns="18288" rIns="45720" bIns="18288" anchor="ctr">
            <a:spAutoFit/>
          </a:bodyPr>
          <a:lstStyle/>
          <a:p>
            <a:pPr algn="ctr"/>
            <a:r>
              <a:rPr sz="1300" b="1">
                <a:solidFill>
                  <a:srgbClr val="FFFFFF"/>
                </a:solidFill>
                <a:latin typeface="Noto Sans KR"/>
              </a:rPr>
              <a:t>06</a:t>
            </a:r>
          </a:p>
        </p:txBody>
      </p:sp>
      <p:sp>
        <p:nvSpPr>
          <p:cNvPr id="34" name="TextBox 33"/>
          <p:cNvSpPr txBox="1"/>
          <p:nvPr/>
        </p:nvSpPr>
        <p:spPr>
          <a:xfrm>
            <a:off x="10138410" y="2505456"/>
            <a:ext cx="1559509" cy="365760"/>
          </a:xfrm>
          <a:prstGeom prst="rect">
            <a:avLst/>
          </a:prstGeom>
          <a:noFill/>
        </p:spPr>
        <p:txBody>
          <a:bodyPr wrap="square" lIns="45720" tIns="18288" rIns="45720" bIns="18288" anchor="t">
            <a:spAutoFit/>
          </a:bodyPr>
          <a:lstStyle/>
          <a:p>
            <a:pPr algn="l"/>
            <a:r>
              <a:rPr sz="1200" b="1">
                <a:solidFill>
                  <a:srgbClr val="1E293B"/>
                </a:solidFill>
                <a:latin typeface="Noto Sans KR"/>
              </a:rPr>
              <a:t>보고서 &amp; 취약점 보완</a:t>
            </a:r>
          </a:p>
        </p:txBody>
      </p:sp>
      <p:sp>
        <p:nvSpPr>
          <p:cNvPr id="35" name="TextBox 34"/>
          <p:cNvSpPr txBox="1"/>
          <p:nvPr/>
        </p:nvSpPr>
        <p:spPr>
          <a:xfrm>
            <a:off x="10129266" y="2889504"/>
            <a:ext cx="1559509" cy="713232"/>
          </a:xfrm>
          <a:prstGeom prst="rect">
            <a:avLst/>
          </a:prstGeom>
          <a:noFill/>
        </p:spPr>
        <p:txBody>
          <a:bodyPr wrap="square" lIns="45720" tIns="18288" rIns="45720" bIns="18288" anchor="ctr">
            <a:spAutoFit/>
          </a:bodyPr>
          <a:lstStyle/>
          <a:p>
            <a:pPr algn="l">
              <a:lnSpc>
                <a:spcPct val="125000"/>
              </a:lnSpc>
            </a:pPr>
            <a:r>
              <a:rPr sz="1300" b="0">
                <a:solidFill>
                  <a:srgbClr val="475569"/>
                </a:solidFill>
                <a:latin typeface="Noto Sans KR"/>
              </a:rPr>
              <a:t>발견 취약점 정리
방어 전략 수립</a:t>
            </a:r>
          </a:p>
        </p:txBody>
      </p:sp>
      <p:sp>
        <p:nvSpPr>
          <p:cNvPr id="36" name="Rectangle 35"/>
          <p:cNvSpPr/>
          <p:nvPr/>
        </p:nvSpPr>
        <p:spPr>
          <a:xfrm>
            <a:off x="365760" y="4224528"/>
            <a:ext cx="3759098" cy="292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365760" y="4023360"/>
            <a:ext cx="29260" cy="201167"/>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ectangle 37"/>
          <p:cNvSpPr/>
          <p:nvPr/>
        </p:nvSpPr>
        <p:spPr>
          <a:xfrm>
            <a:off x="4095597" y="4023360"/>
            <a:ext cx="29260" cy="201167"/>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ectangle 38"/>
          <p:cNvSpPr/>
          <p:nvPr/>
        </p:nvSpPr>
        <p:spPr>
          <a:xfrm>
            <a:off x="2230678" y="4224528"/>
            <a:ext cx="29260" cy="12801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365760" y="4407408"/>
            <a:ext cx="3759098" cy="310896"/>
          </a:xfrm>
          <a:prstGeom prst="rect">
            <a:avLst/>
          </a:prstGeom>
          <a:noFill/>
        </p:spPr>
        <p:txBody>
          <a:bodyPr wrap="square" lIns="45720" tIns="18288" rIns="45720" bIns="18288" anchor="t">
            <a:spAutoFit/>
          </a:bodyPr>
          <a:lstStyle/>
          <a:p>
            <a:pPr algn="ctr"/>
            <a:r>
              <a:rPr sz="1300" b="1">
                <a:solidFill>
                  <a:srgbClr val="F59E0B"/>
                </a:solidFill>
                <a:latin typeface="Noto Sans KR"/>
              </a:rPr>
              <a:t>STAGE 1 · 기초 다지기</a:t>
            </a:r>
          </a:p>
        </p:txBody>
      </p:sp>
      <p:sp>
        <p:nvSpPr>
          <p:cNvPr id="41" name="TextBox 40"/>
          <p:cNvSpPr txBox="1"/>
          <p:nvPr/>
        </p:nvSpPr>
        <p:spPr>
          <a:xfrm>
            <a:off x="365760" y="4736592"/>
            <a:ext cx="3759098" cy="310896"/>
          </a:xfrm>
          <a:prstGeom prst="rect">
            <a:avLst/>
          </a:prstGeom>
          <a:noFill/>
        </p:spPr>
        <p:txBody>
          <a:bodyPr wrap="square" lIns="45720" tIns="18288" rIns="45720" bIns="18288" anchor="t">
            <a:spAutoFit/>
          </a:bodyPr>
          <a:lstStyle/>
          <a:p>
            <a:pPr algn="ctr"/>
            <a:r>
              <a:rPr sz="1200" b="0">
                <a:solidFill>
                  <a:srgbClr val="334155"/>
                </a:solidFill>
                <a:latin typeface="Noto Sans KR"/>
              </a:rPr>
              <a:t>AI·웹 취약점 기본기</a:t>
            </a:r>
          </a:p>
        </p:txBody>
      </p:sp>
      <p:sp>
        <p:nvSpPr>
          <p:cNvPr id="42" name="Rectangle 41"/>
          <p:cNvSpPr/>
          <p:nvPr/>
        </p:nvSpPr>
        <p:spPr>
          <a:xfrm>
            <a:off x="4216298" y="4224528"/>
            <a:ext cx="5684367" cy="292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Rectangle 42"/>
          <p:cNvSpPr/>
          <p:nvPr/>
        </p:nvSpPr>
        <p:spPr>
          <a:xfrm>
            <a:off x="4216298" y="4023360"/>
            <a:ext cx="29260" cy="201167"/>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Rectangle 43"/>
          <p:cNvSpPr/>
          <p:nvPr/>
        </p:nvSpPr>
        <p:spPr>
          <a:xfrm>
            <a:off x="9871405" y="4023360"/>
            <a:ext cx="29260" cy="201167"/>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ectangle 44"/>
          <p:cNvSpPr/>
          <p:nvPr/>
        </p:nvSpPr>
        <p:spPr>
          <a:xfrm>
            <a:off x="7043851" y="4224528"/>
            <a:ext cx="29260" cy="12801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4216298" y="4407408"/>
            <a:ext cx="5684367" cy="310896"/>
          </a:xfrm>
          <a:prstGeom prst="rect">
            <a:avLst/>
          </a:prstGeom>
          <a:noFill/>
        </p:spPr>
        <p:txBody>
          <a:bodyPr wrap="square" lIns="45720" tIns="18288" rIns="45720" bIns="18288" anchor="t">
            <a:spAutoFit/>
          </a:bodyPr>
          <a:lstStyle/>
          <a:p>
            <a:pPr algn="ctr"/>
            <a:r>
              <a:rPr sz="1300" b="1">
                <a:solidFill>
                  <a:srgbClr val="F59E0B"/>
                </a:solidFill>
                <a:latin typeface="Noto Sans KR"/>
              </a:rPr>
              <a:t>STAGE 2 · AI 실전: 정보량 대조 실험</a:t>
            </a:r>
          </a:p>
        </p:txBody>
      </p:sp>
      <p:sp>
        <p:nvSpPr>
          <p:cNvPr id="47" name="TextBox 46"/>
          <p:cNvSpPr txBox="1"/>
          <p:nvPr/>
        </p:nvSpPr>
        <p:spPr>
          <a:xfrm>
            <a:off x="4216298" y="4736592"/>
            <a:ext cx="5684367" cy="310896"/>
          </a:xfrm>
          <a:prstGeom prst="rect">
            <a:avLst/>
          </a:prstGeom>
          <a:noFill/>
        </p:spPr>
        <p:txBody>
          <a:bodyPr wrap="square" lIns="45720" tIns="18288" rIns="45720" bIns="18288" anchor="t">
            <a:spAutoFit/>
          </a:bodyPr>
          <a:lstStyle/>
          <a:p>
            <a:pPr algn="ctr"/>
            <a:r>
              <a:rPr sz="1200" b="0">
                <a:solidFill>
                  <a:srgbClr val="334155"/>
                </a:solidFill>
                <a:latin typeface="Noto Sans KR"/>
              </a:rPr>
              <a:t>04 정보 없음 ↔ 05 정보 풍부 대조</a:t>
            </a:r>
          </a:p>
        </p:txBody>
      </p:sp>
      <p:sp>
        <p:nvSpPr>
          <p:cNvPr id="48" name="TextBox 47"/>
          <p:cNvSpPr txBox="1"/>
          <p:nvPr/>
        </p:nvSpPr>
        <p:spPr>
          <a:xfrm>
            <a:off x="4216298" y="5065776"/>
            <a:ext cx="5684367" cy="274320"/>
          </a:xfrm>
          <a:prstGeom prst="rect">
            <a:avLst/>
          </a:prstGeom>
          <a:noFill/>
        </p:spPr>
        <p:txBody>
          <a:bodyPr wrap="square" lIns="45720" tIns="18288" rIns="45720" bIns="18288" anchor="t">
            <a:spAutoFit/>
          </a:bodyPr>
          <a:lstStyle/>
          <a:p>
            <a:pPr algn="ctr"/>
            <a:r>
              <a:rPr sz="1100" b="0">
                <a:solidFill>
                  <a:srgbClr val="64748B"/>
                </a:solidFill>
                <a:latin typeface="Noto Sans KR"/>
              </a:rPr>
              <a:t>정보량에 따른 AI 진단 성과 차이 체험</a:t>
            </a:r>
          </a:p>
        </p:txBody>
      </p:sp>
      <p:sp>
        <p:nvSpPr>
          <p:cNvPr id="49" name="Rectangle 48"/>
          <p:cNvSpPr/>
          <p:nvPr/>
        </p:nvSpPr>
        <p:spPr>
          <a:xfrm>
            <a:off x="9992106" y="4224528"/>
            <a:ext cx="1833829" cy="292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Rectangle 49"/>
          <p:cNvSpPr/>
          <p:nvPr/>
        </p:nvSpPr>
        <p:spPr>
          <a:xfrm>
            <a:off x="9992106" y="4023360"/>
            <a:ext cx="29260" cy="201167"/>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Rectangle 50"/>
          <p:cNvSpPr/>
          <p:nvPr/>
        </p:nvSpPr>
        <p:spPr>
          <a:xfrm>
            <a:off x="11796674" y="4023360"/>
            <a:ext cx="29260" cy="201167"/>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Rectangle 51"/>
          <p:cNvSpPr/>
          <p:nvPr/>
        </p:nvSpPr>
        <p:spPr>
          <a:xfrm>
            <a:off x="10894390" y="4224528"/>
            <a:ext cx="29260" cy="12801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9903180" y="4407408"/>
            <a:ext cx="2011680" cy="310896"/>
          </a:xfrm>
          <a:prstGeom prst="rect">
            <a:avLst/>
          </a:prstGeom>
          <a:noFill/>
        </p:spPr>
        <p:txBody>
          <a:bodyPr wrap="square" lIns="45720" tIns="18288" rIns="45720" bIns="18288" anchor="t">
            <a:spAutoFit/>
          </a:bodyPr>
          <a:lstStyle/>
          <a:p>
            <a:pPr algn="ctr"/>
            <a:r>
              <a:rPr sz="1300" b="1">
                <a:solidFill>
                  <a:srgbClr val="F59E0B"/>
                </a:solidFill>
                <a:latin typeface="Noto Sans KR"/>
              </a:rPr>
              <a:t>STAGE 3 · 마무리</a:t>
            </a:r>
          </a:p>
        </p:txBody>
      </p:sp>
      <p:sp>
        <p:nvSpPr>
          <p:cNvPr id="54" name="TextBox 53"/>
          <p:cNvSpPr txBox="1"/>
          <p:nvPr/>
        </p:nvSpPr>
        <p:spPr>
          <a:xfrm>
            <a:off x="9903180" y="4736592"/>
            <a:ext cx="2011680" cy="310896"/>
          </a:xfrm>
          <a:prstGeom prst="rect">
            <a:avLst/>
          </a:prstGeom>
          <a:noFill/>
        </p:spPr>
        <p:txBody>
          <a:bodyPr wrap="square" lIns="45720" tIns="18288" rIns="45720" bIns="18288" anchor="t">
            <a:spAutoFit/>
          </a:bodyPr>
          <a:lstStyle/>
          <a:p>
            <a:pPr algn="ctr"/>
            <a:r>
              <a:rPr sz="1200" b="0">
                <a:solidFill>
                  <a:srgbClr val="334155"/>
                </a:solidFill>
                <a:latin typeface="Noto Sans KR"/>
              </a:rPr>
              <a:t>보고서 · 방어 전략</a:t>
            </a:r>
          </a:p>
        </p:txBody>
      </p:sp>
      <p:sp>
        <p:nvSpPr>
          <p:cNvPr id="55" name="TextBox 54"/>
          <p:cNvSpPr txBox="1"/>
          <p:nvPr/>
        </p:nvSpPr>
        <p:spPr>
          <a:xfrm>
            <a:off x="640080" y="6492240"/>
            <a:ext cx="10728655" cy="228600"/>
          </a:xfrm>
          <a:prstGeom prst="rect">
            <a:avLst/>
          </a:prstGeom>
          <a:noFill/>
        </p:spPr>
        <p:txBody>
          <a:bodyPr wrap="square" lIns="45720" tIns="18288" rIns="45720" bIns="18288" anchor="t">
            <a:spAutoFit/>
          </a:bodyPr>
          <a:lstStyle/>
          <a:p>
            <a:pPr algn="l"/>
            <a:r>
              <a:rPr sz="800" b="0">
                <a:solidFill>
                  <a:srgbClr val="64748B"/>
                </a:solidFill>
                <a:latin typeface="Noto Sans KR"/>
              </a:rPr>
              <a:t>취약점 진단 과정 AI 접목 사례 · 사이버안보훈련센터</a:t>
            </a:r>
          </a:p>
        </p:txBody>
      </p:sp>
      <p:sp>
        <p:nvSpPr>
          <p:cNvPr id="56" name="TextBox 55"/>
          <p:cNvSpPr txBox="1"/>
          <p:nvPr/>
        </p:nvSpPr>
        <p:spPr>
          <a:xfrm>
            <a:off x="11734495" y="6492240"/>
            <a:ext cx="365760" cy="228600"/>
          </a:xfrm>
          <a:prstGeom prst="rect">
            <a:avLst/>
          </a:prstGeom>
          <a:noFill/>
        </p:spPr>
        <p:txBody>
          <a:bodyPr wrap="square" lIns="45720" tIns="18288" rIns="45720" bIns="18288" anchor="t">
            <a:spAutoFit/>
          </a:bodyPr>
          <a:lstStyle/>
          <a:p>
            <a:pPr algn="r"/>
            <a:r>
              <a:rPr sz="900" b="0">
                <a:solidFill>
                  <a:srgbClr val="94A3B8"/>
                </a:solidFill>
                <a:latin typeface="Noto Sans KR"/>
              </a:rPr>
              <a:t>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1221</Words>
  <Application>Microsoft Office PowerPoint</Application>
  <PresentationFormat>와이드스크린</PresentationFormat>
  <Paragraphs>126</Paragraphs>
  <Slides>5</Slides>
  <Notes>5</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5</vt:i4>
      </vt:variant>
    </vt:vector>
  </HeadingPairs>
  <TitlesOfParts>
    <vt:vector size="9" baseType="lpstr">
      <vt:lpstr>Noto Sans KR</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kayang</dc:creator>
  <cp:keywords/>
  <dc:description>generated using python-pptx</dc:description>
  <cp:lastModifiedBy>경아 양</cp:lastModifiedBy>
  <cp:revision>3</cp:revision>
  <dcterms:created xsi:type="dcterms:W3CDTF">2013-01-27T09:14:16Z</dcterms:created>
  <dcterms:modified xsi:type="dcterms:W3CDTF">2026-06-09T06:13:42Z</dcterms:modified>
  <cp:category/>
</cp:coreProperties>
</file>